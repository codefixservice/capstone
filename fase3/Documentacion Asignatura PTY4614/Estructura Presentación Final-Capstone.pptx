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84" r:id="rId4"/>
    <p:sldId id="260" r:id="rId5"/>
    <p:sldId id="288" r:id="rId6"/>
    <p:sldId id="292" r:id="rId7"/>
    <p:sldId id="269" r:id="rId8"/>
    <p:sldId id="259" r:id="rId9"/>
    <p:sldId id="282" r:id="rId10"/>
    <p:sldId id="291" r:id="rId11"/>
    <p:sldId id="261" r:id="rId12"/>
    <p:sldId id="278" r:id="rId13"/>
    <p:sldId id="276" r:id="rId14"/>
    <p:sldId id="267" r:id="rId15"/>
    <p:sldId id="274" r:id="rId16"/>
    <p:sldId id="295" r:id="rId17"/>
    <p:sldId id="296" r:id="rId18"/>
    <p:sldId id="297" r:id="rId19"/>
    <p:sldId id="298" r:id="rId20"/>
    <p:sldId id="299" r:id="rId21"/>
    <p:sldId id="300" r:id="rId22"/>
    <p:sldId id="301" r:id="rId23"/>
    <p:sldId id="290" r:id="rId24"/>
    <p:sldId id="289" r:id="rId25"/>
    <p:sldId id="293" r:id="rId26"/>
    <p:sldId id="286" r:id="rId27"/>
    <p:sldId id="265" r:id="rId28"/>
    <p:sldId id="287" r:id="rId29"/>
  </p:sldIdLst>
  <p:sldSz cx="12192000" cy="6858000"/>
  <p:notesSz cx="6858000" cy="9144000"/>
  <p:defaultText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p:scale>
          <a:sx n="75" d="100"/>
          <a:sy n="75" d="100"/>
        </p:scale>
        <p:origin x="91" y="21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CL"/>
          </a:p>
        </p:txBody>
      </p:sp>
      <p:sp>
        <p:nvSpPr>
          <p:cNvPr id="3" name="Subtítulo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CL"/>
          </a:p>
        </p:txBody>
      </p:sp>
      <p:sp>
        <p:nvSpPr>
          <p:cNvPr id="4" name="Marcador de fecha 3"/>
          <p:cNvSpPr>
            <a:spLocks noGrp="1"/>
          </p:cNvSpPr>
          <p:nvPr>
            <p:ph type="dt" sz="half" idx="10"/>
          </p:nvPr>
        </p:nvSpPr>
        <p:spPr/>
        <p:txBody>
          <a:bodyPr/>
          <a:lstStyle/>
          <a:p>
            <a:fld id="{C56040A3-26B0-41B9-8D0E-A6E2BE76A0F6}" type="datetimeFigureOut">
              <a:rPr lang="es-CL" smtClean="0"/>
              <a:t>09-12-2025</a:t>
            </a:fld>
            <a:endParaRPr lang="es-CL"/>
          </a:p>
        </p:txBody>
      </p:sp>
      <p:sp>
        <p:nvSpPr>
          <p:cNvPr id="5" name="Marcador de pie de página 4"/>
          <p:cNvSpPr>
            <a:spLocks noGrp="1"/>
          </p:cNvSpPr>
          <p:nvPr>
            <p:ph type="ftr" sz="quarter" idx="11"/>
          </p:nvPr>
        </p:nvSpPr>
        <p:spPr/>
        <p:txBody>
          <a:bodyPr/>
          <a:lstStyle/>
          <a:p>
            <a:endParaRPr lang="es-CL"/>
          </a:p>
        </p:txBody>
      </p:sp>
      <p:sp>
        <p:nvSpPr>
          <p:cNvPr id="6" name="Marcador de número de diapositiva 5"/>
          <p:cNvSpPr>
            <a:spLocks noGrp="1"/>
          </p:cNvSpPr>
          <p:nvPr>
            <p:ph type="sldNum" sz="quarter" idx="12"/>
          </p:nvPr>
        </p:nvSpPr>
        <p:spPr/>
        <p:txBody>
          <a:bodyPr/>
          <a:lstStyle/>
          <a:p>
            <a:fld id="{B4A6B74D-EAB3-419D-9AFB-7734616CA1B2}" type="slidenum">
              <a:rPr lang="es-CL" smtClean="0"/>
              <a:t>‹Nº›</a:t>
            </a:fld>
            <a:endParaRPr lang="es-CL"/>
          </a:p>
        </p:txBody>
      </p:sp>
    </p:spTree>
    <p:extLst>
      <p:ext uri="{BB962C8B-B14F-4D97-AF65-F5344CB8AC3E}">
        <p14:creationId xmlns:p14="http://schemas.microsoft.com/office/powerpoint/2010/main" val="7163217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CL"/>
          </a:p>
        </p:txBody>
      </p:sp>
      <p:sp>
        <p:nvSpPr>
          <p:cNvPr id="3" name="Marcador de contenido 2"/>
          <p:cNvSpPr>
            <a:spLocks noGrp="1"/>
          </p:cNvSpPr>
          <p:nvPr>
            <p:ph idx="1"/>
          </p:nvPr>
        </p:nvSpPr>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fecha 3"/>
          <p:cNvSpPr>
            <a:spLocks noGrp="1"/>
          </p:cNvSpPr>
          <p:nvPr>
            <p:ph type="dt" sz="half" idx="10"/>
          </p:nvPr>
        </p:nvSpPr>
        <p:spPr/>
        <p:txBody>
          <a:bodyPr/>
          <a:lstStyle/>
          <a:p>
            <a:fld id="{C56040A3-26B0-41B9-8D0E-A6E2BE76A0F6}" type="datetimeFigureOut">
              <a:rPr lang="es-CL" smtClean="0"/>
              <a:t>09-12-2025</a:t>
            </a:fld>
            <a:endParaRPr lang="es-CL"/>
          </a:p>
        </p:txBody>
      </p:sp>
      <p:sp>
        <p:nvSpPr>
          <p:cNvPr id="5" name="Marcador de pie de página 4"/>
          <p:cNvSpPr>
            <a:spLocks noGrp="1"/>
          </p:cNvSpPr>
          <p:nvPr>
            <p:ph type="ftr" sz="quarter" idx="11"/>
          </p:nvPr>
        </p:nvSpPr>
        <p:spPr/>
        <p:txBody>
          <a:bodyPr/>
          <a:lstStyle/>
          <a:p>
            <a:endParaRPr lang="es-CL"/>
          </a:p>
        </p:txBody>
      </p:sp>
      <p:sp>
        <p:nvSpPr>
          <p:cNvPr id="6" name="Marcador de número de diapositiva 5"/>
          <p:cNvSpPr>
            <a:spLocks noGrp="1"/>
          </p:cNvSpPr>
          <p:nvPr>
            <p:ph type="sldNum" sz="quarter" idx="12"/>
          </p:nvPr>
        </p:nvSpPr>
        <p:spPr/>
        <p:txBody>
          <a:bodyPr/>
          <a:lstStyle/>
          <a:p>
            <a:fld id="{B4A6B74D-EAB3-419D-9AFB-7734616CA1B2}" type="slidenum">
              <a:rPr lang="es-CL" smtClean="0"/>
              <a:t>‹Nº›</a:t>
            </a:fld>
            <a:endParaRPr lang="es-CL"/>
          </a:p>
        </p:txBody>
      </p:sp>
    </p:spTree>
    <p:extLst>
      <p:ext uri="{BB962C8B-B14F-4D97-AF65-F5344CB8AC3E}">
        <p14:creationId xmlns:p14="http://schemas.microsoft.com/office/powerpoint/2010/main" val="1317821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CL"/>
          </a:p>
        </p:txBody>
      </p:sp>
      <p:sp>
        <p:nvSpPr>
          <p:cNvPr id="3" name="Marcador de texto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el estilo de texto del patrón</a:t>
            </a:r>
          </a:p>
        </p:txBody>
      </p:sp>
      <p:sp>
        <p:nvSpPr>
          <p:cNvPr id="4" name="Marcador de fecha 3"/>
          <p:cNvSpPr>
            <a:spLocks noGrp="1"/>
          </p:cNvSpPr>
          <p:nvPr>
            <p:ph type="dt" sz="half" idx="10"/>
          </p:nvPr>
        </p:nvSpPr>
        <p:spPr/>
        <p:txBody>
          <a:bodyPr/>
          <a:lstStyle/>
          <a:p>
            <a:fld id="{C56040A3-26B0-41B9-8D0E-A6E2BE76A0F6}" type="datetimeFigureOut">
              <a:rPr lang="es-CL" smtClean="0"/>
              <a:t>09-12-2025</a:t>
            </a:fld>
            <a:endParaRPr lang="es-CL"/>
          </a:p>
        </p:txBody>
      </p:sp>
      <p:sp>
        <p:nvSpPr>
          <p:cNvPr id="5" name="Marcador de pie de página 4"/>
          <p:cNvSpPr>
            <a:spLocks noGrp="1"/>
          </p:cNvSpPr>
          <p:nvPr>
            <p:ph type="ftr" sz="quarter" idx="11"/>
          </p:nvPr>
        </p:nvSpPr>
        <p:spPr/>
        <p:txBody>
          <a:bodyPr/>
          <a:lstStyle/>
          <a:p>
            <a:endParaRPr lang="es-CL"/>
          </a:p>
        </p:txBody>
      </p:sp>
      <p:sp>
        <p:nvSpPr>
          <p:cNvPr id="6" name="Marcador de número de diapositiva 5"/>
          <p:cNvSpPr>
            <a:spLocks noGrp="1"/>
          </p:cNvSpPr>
          <p:nvPr>
            <p:ph type="sldNum" sz="quarter" idx="12"/>
          </p:nvPr>
        </p:nvSpPr>
        <p:spPr/>
        <p:txBody>
          <a:bodyPr/>
          <a:lstStyle/>
          <a:p>
            <a:fld id="{B4A6B74D-EAB3-419D-9AFB-7734616CA1B2}" type="slidenum">
              <a:rPr lang="es-CL" smtClean="0"/>
              <a:t>‹Nº›</a:t>
            </a:fld>
            <a:endParaRPr lang="es-CL"/>
          </a:p>
        </p:txBody>
      </p:sp>
    </p:spTree>
    <p:extLst>
      <p:ext uri="{BB962C8B-B14F-4D97-AF65-F5344CB8AC3E}">
        <p14:creationId xmlns:p14="http://schemas.microsoft.com/office/powerpoint/2010/main" val="24678956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CL"/>
          </a:p>
        </p:txBody>
      </p:sp>
      <p:sp>
        <p:nvSpPr>
          <p:cNvPr id="3" name="Marcador de contenido 2"/>
          <p:cNvSpPr>
            <a:spLocks noGrp="1"/>
          </p:cNvSpPr>
          <p:nvPr>
            <p:ph sz="half" idx="1"/>
          </p:nvPr>
        </p:nvSpPr>
        <p:spPr>
          <a:xfrm>
            <a:off x="838200" y="1825625"/>
            <a:ext cx="5181600" cy="435133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contenido 3"/>
          <p:cNvSpPr>
            <a:spLocks noGrp="1"/>
          </p:cNvSpPr>
          <p:nvPr>
            <p:ph sz="half" idx="2"/>
          </p:nvPr>
        </p:nvSpPr>
        <p:spPr>
          <a:xfrm>
            <a:off x="6172200" y="1825625"/>
            <a:ext cx="5181600" cy="435133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5" name="Marcador de fecha 4"/>
          <p:cNvSpPr>
            <a:spLocks noGrp="1"/>
          </p:cNvSpPr>
          <p:nvPr>
            <p:ph type="dt" sz="half" idx="10"/>
          </p:nvPr>
        </p:nvSpPr>
        <p:spPr/>
        <p:txBody>
          <a:bodyPr/>
          <a:lstStyle/>
          <a:p>
            <a:fld id="{C56040A3-26B0-41B9-8D0E-A6E2BE76A0F6}" type="datetimeFigureOut">
              <a:rPr lang="es-CL" smtClean="0"/>
              <a:t>09-12-2025</a:t>
            </a:fld>
            <a:endParaRPr lang="es-CL"/>
          </a:p>
        </p:txBody>
      </p:sp>
      <p:sp>
        <p:nvSpPr>
          <p:cNvPr id="6" name="Marcador de pie de página 5"/>
          <p:cNvSpPr>
            <a:spLocks noGrp="1"/>
          </p:cNvSpPr>
          <p:nvPr>
            <p:ph type="ftr" sz="quarter" idx="11"/>
          </p:nvPr>
        </p:nvSpPr>
        <p:spPr/>
        <p:txBody>
          <a:bodyPr/>
          <a:lstStyle/>
          <a:p>
            <a:endParaRPr lang="es-CL"/>
          </a:p>
        </p:txBody>
      </p:sp>
      <p:sp>
        <p:nvSpPr>
          <p:cNvPr id="7" name="Marcador de número de diapositiva 6"/>
          <p:cNvSpPr>
            <a:spLocks noGrp="1"/>
          </p:cNvSpPr>
          <p:nvPr>
            <p:ph type="sldNum" sz="quarter" idx="12"/>
          </p:nvPr>
        </p:nvSpPr>
        <p:spPr/>
        <p:txBody>
          <a:bodyPr/>
          <a:lstStyle/>
          <a:p>
            <a:fld id="{B4A6B74D-EAB3-419D-9AFB-7734616CA1B2}" type="slidenum">
              <a:rPr lang="es-CL" smtClean="0"/>
              <a:t>‹Nº›</a:t>
            </a:fld>
            <a:endParaRPr lang="es-CL"/>
          </a:p>
        </p:txBody>
      </p:sp>
    </p:spTree>
    <p:extLst>
      <p:ext uri="{BB962C8B-B14F-4D97-AF65-F5344CB8AC3E}">
        <p14:creationId xmlns:p14="http://schemas.microsoft.com/office/powerpoint/2010/main" val="29873801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a:xfrm>
            <a:off x="839788" y="365125"/>
            <a:ext cx="10515600" cy="1325563"/>
          </a:xfrm>
        </p:spPr>
        <p:txBody>
          <a:bodyPr/>
          <a:lstStyle/>
          <a:p>
            <a:r>
              <a:rPr lang="es-ES"/>
              <a:t>Haga clic para modificar el estilo de título del patrón</a:t>
            </a:r>
            <a:endParaRPr lang="es-CL"/>
          </a:p>
        </p:txBody>
      </p:sp>
      <p:sp>
        <p:nvSpPr>
          <p:cNvPr id="3" name="Marcador de tex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4" name="Marcador de contenido 3"/>
          <p:cNvSpPr>
            <a:spLocks noGrp="1"/>
          </p:cNvSpPr>
          <p:nvPr>
            <p:ph sz="half" idx="2"/>
          </p:nvPr>
        </p:nvSpPr>
        <p:spPr>
          <a:xfrm>
            <a:off x="839788" y="2505075"/>
            <a:ext cx="5157787" cy="368458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5" name="Marcador de tex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6" name="Marcador de contenido 5"/>
          <p:cNvSpPr>
            <a:spLocks noGrp="1"/>
          </p:cNvSpPr>
          <p:nvPr>
            <p:ph sz="quarter" idx="4"/>
          </p:nvPr>
        </p:nvSpPr>
        <p:spPr>
          <a:xfrm>
            <a:off x="6172200" y="2505075"/>
            <a:ext cx="5183188" cy="3684588"/>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7" name="Marcador de fecha 6"/>
          <p:cNvSpPr>
            <a:spLocks noGrp="1"/>
          </p:cNvSpPr>
          <p:nvPr>
            <p:ph type="dt" sz="half" idx="10"/>
          </p:nvPr>
        </p:nvSpPr>
        <p:spPr/>
        <p:txBody>
          <a:bodyPr/>
          <a:lstStyle/>
          <a:p>
            <a:fld id="{C56040A3-26B0-41B9-8D0E-A6E2BE76A0F6}" type="datetimeFigureOut">
              <a:rPr lang="es-CL" smtClean="0"/>
              <a:t>09-12-2025</a:t>
            </a:fld>
            <a:endParaRPr lang="es-CL"/>
          </a:p>
        </p:txBody>
      </p:sp>
      <p:sp>
        <p:nvSpPr>
          <p:cNvPr id="8" name="Marcador de pie de página 7"/>
          <p:cNvSpPr>
            <a:spLocks noGrp="1"/>
          </p:cNvSpPr>
          <p:nvPr>
            <p:ph type="ftr" sz="quarter" idx="11"/>
          </p:nvPr>
        </p:nvSpPr>
        <p:spPr/>
        <p:txBody>
          <a:bodyPr/>
          <a:lstStyle/>
          <a:p>
            <a:endParaRPr lang="es-CL"/>
          </a:p>
        </p:txBody>
      </p:sp>
      <p:sp>
        <p:nvSpPr>
          <p:cNvPr id="9" name="Marcador de número de diapositiva 8"/>
          <p:cNvSpPr>
            <a:spLocks noGrp="1"/>
          </p:cNvSpPr>
          <p:nvPr>
            <p:ph type="sldNum" sz="quarter" idx="12"/>
          </p:nvPr>
        </p:nvSpPr>
        <p:spPr/>
        <p:txBody>
          <a:bodyPr/>
          <a:lstStyle/>
          <a:p>
            <a:fld id="{B4A6B74D-EAB3-419D-9AFB-7734616CA1B2}" type="slidenum">
              <a:rPr lang="es-CL" smtClean="0"/>
              <a:t>‹Nº›</a:t>
            </a:fld>
            <a:endParaRPr lang="es-CL"/>
          </a:p>
        </p:txBody>
      </p:sp>
    </p:spTree>
    <p:extLst>
      <p:ext uri="{BB962C8B-B14F-4D97-AF65-F5344CB8AC3E}">
        <p14:creationId xmlns:p14="http://schemas.microsoft.com/office/powerpoint/2010/main" val="33072709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CL"/>
          </a:p>
        </p:txBody>
      </p:sp>
      <p:sp>
        <p:nvSpPr>
          <p:cNvPr id="3" name="Marcador de fecha 2"/>
          <p:cNvSpPr>
            <a:spLocks noGrp="1"/>
          </p:cNvSpPr>
          <p:nvPr>
            <p:ph type="dt" sz="half" idx="10"/>
          </p:nvPr>
        </p:nvSpPr>
        <p:spPr/>
        <p:txBody>
          <a:bodyPr/>
          <a:lstStyle/>
          <a:p>
            <a:fld id="{C56040A3-26B0-41B9-8D0E-A6E2BE76A0F6}" type="datetimeFigureOut">
              <a:rPr lang="es-CL" smtClean="0"/>
              <a:t>09-12-2025</a:t>
            </a:fld>
            <a:endParaRPr lang="es-CL"/>
          </a:p>
        </p:txBody>
      </p:sp>
      <p:sp>
        <p:nvSpPr>
          <p:cNvPr id="4" name="Marcador de pie de página 3"/>
          <p:cNvSpPr>
            <a:spLocks noGrp="1"/>
          </p:cNvSpPr>
          <p:nvPr>
            <p:ph type="ftr" sz="quarter" idx="11"/>
          </p:nvPr>
        </p:nvSpPr>
        <p:spPr/>
        <p:txBody>
          <a:bodyPr/>
          <a:lstStyle/>
          <a:p>
            <a:endParaRPr lang="es-CL"/>
          </a:p>
        </p:txBody>
      </p:sp>
      <p:sp>
        <p:nvSpPr>
          <p:cNvPr id="5" name="Marcador de número de diapositiva 4"/>
          <p:cNvSpPr>
            <a:spLocks noGrp="1"/>
          </p:cNvSpPr>
          <p:nvPr>
            <p:ph type="sldNum" sz="quarter" idx="12"/>
          </p:nvPr>
        </p:nvSpPr>
        <p:spPr/>
        <p:txBody>
          <a:bodyPr/>
          <a:lstStyle/>
          <a:p>
            <a:fld id="{B4A6B74D-EAB3-419D-9AFB-7734616CA1B2}" type="slidenum">
              <a:rPr lang="es-CL" smtClean="0"/>
              <a:t>‹Nº›</a:t>
            </a:fld>
            <a:endParaRPr lang="es-CL"/>
          </a:p>
        </p:txBody>
      </p:sp>
    </p:spTree>
    <p:extLst>
      <p:ext uri="{BB962C8B-B14F-4D97-AF65-F5344CB8AC3E}">
        <p14:creationId xmlns:p14="http://schemas.microsoft.com/office/powerpoint/2010/main" val="39670129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C56040A3-26B0-41B9-8D0E-A6E2BE76A0F6}" type="datetimeFigureOut">
              <a:rPr lang="es-CL" smtClean="0"/>
              <a:t>09-12-2025</a:t>
            </a:fld>
            <a:endParaRPr lang="es-CL"/>
          </a:p>
        </p:txBody>
      </p:sp>
      <p:sp>
        <p:nvSpPr>
          <p:cNvPr id="3" name="Marcador de pie de página 2"/>
          <p:cNvSpPr>
            <a:spLocks noGrp="1"/>
          </p:cNvSpPr>
          <p:nvPr>
            <p:ph type="ftr" sz="quarter" idx="11"/>
          </p:nvPr>
        </p:nvSpPr>
        <p:spPr/>
        <p:txBody>
          <a:bodyPr/>
          <a:lstStyle/>
          <a:p>
            <a:endParaRPr lang="es-CL"/>
          </a:p>
        </p:txBody>
      </p:sp>
      <p:sp>
        <p:nvSpPr>
          <p:cNvPr id="4" name="Marcador de número de diapositiva 3"/>
          <p:cNvSpPr>
            <a:spLocks noGrp="1"/>
          </p:cNvSpPr>
          <p:nvPr>
            <p:ph type="sldNum" sz="quarter" idx="12"/>
          </p:nvPr>
        </p:nvSpPr>
        <p:spPr/>
        <p:txBody>
          <a:bodyPr/>
          <a:lstStyle/>
          <a:p>
            <a:fld id="{B4A6B74D-EAB3-419D-9AFB-7734616CA1B2}" type="slidenum">
              <a:rPr lang="es-CL" smtClean="0"/>
              <a:t>‹Nº›</a:t>
            </a:fld>
            <a:endParaRPr lang="es-CL"/>
          </a:p>
        </p:txBody>
      </p:sp>
    </p:spTree>
    <p:extLst>
      <p:ext uri="{BB962C8B-B14F-4D97-AF65-F5344CB8AC3E}">
        <p14:creationId xmlns:p14="http://schemas.microsoft.com/office/powerpoint/2010/main" val="40055826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L"/>
          </a:p>
        </p:txBody>
      </p:sp>
      <p:sp>
        <p:nvSpPr>
          <p:cNvPr id="3" name="Marcador de contenid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el estilo de texto del patrón</a:t>
            </a:r>
          </a:p>
        </p:txBody>
      </p:sp>
      <p:sp>
        <p:nvSpPr>
          <p:cNvPr id="5" name="Marcador de fecha 4"/>
          <p:cNvSpPr>
            <a:spLocks noGrp="1"/>
          </p:cNvSpPr>
          <p:nvPr>
            <p:ph type="dt" sz="half" idx="10"/>
          </p:nvPr>
        </p:nvSpPr>
        <p:spPr/>
        <p:txBody>
          <a:bodyPr/>
          <a:lstStyle/>
          <a:p>
            <a:fld id="{C56040A3-26B0-41B9-8D0E-A6E2BE76A0F6}" type="datetimeFigureOut">
              <a:rPr lang="es-CL" smtClean="0"/>
              <a:t>09-12-2025</a:t>
            </a:fld>
            <a:endParaRPr lang="es-CL"/>
          </a:p>
        </p:txBody>
      </p:sp>
      <p:sp>
        <p:nvSpPr>
          <p:cNvPr id="6" name="Marcador de pie de página 5"/>
          <p:cNvSpPr>
            <a:spLocks noGrp="1"/>
          </p:cNvSpPr>
          <p:nvPr>
            <p:ph type="ftr" sz="quarter" idx="11"/>
          </p:nvPr>
        </p:nvSpPr>
        <p:spPr/>
        <p:txBody>
          <a:bodyPr/>
          <a:lstStyle/>
          <a:p>
            <a:endParaRPr lang="es-CL"/>
          </a:p>
        </p:txBody>
      </p:sp>
      <p:sp>
        <p:nvSpPr>
          <p:cNvPr id="7" name="Marcador de número de diapositiva 6"/>
          <p:cNvSpPr>
            <a:spLocks noGrp="1"/>
          </p:cNvSpPr>
          <p:nvPr>
            <p:ph type="sldNum" sz="quarter" idx="12"/>
          </p:nvPr>
        </p:nvSpPr>
        <p:spPr/>
        <p:txBody>
          <a:bodyPr/>
          <a:lstStyle/>
          <a:p>
            <a:fld id="{B4A6B74D-EAB3-419D-9AFB-7734616CA1B2}" type="slidenum">
              <a:rPr lang="es-CL" smtClean="0"/>
              <a:t>‹Nº›</a:t>
            </a:fld>
            <a:endParaRPr lang="es-CL"/>
          </a:p>
        </p:txBody>
      </p:sp>
    </p:spTree>
    <p:extLst>
      <p:ext uri="{BB962C8B-B14F-4D97-AF65-F5344CB8AC3E}">
        <p14:creationId xmlns:p14="http://schemas.microsoft.com/office/powerpoint/2010/main" val="10600198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L"/>
          </a:p>
        </p:txBody>
      </p:sp>
      <p:sp>
        <p:nvSpPr>
          <p:cNvPr id="3" name="Marcador de posición de imagen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L"/>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el estilo de texto del patrón</a:t>
            </a:r>
          </a:p>
        </p:txBody>
      </p:sp>
      <p:sp>
        <p:nvSpPr>
          <p:cNvPr id="5" name="Marcador de fecha 4"/>
          <p:cNvSpPr>
            <a:spLocks noGrp="1"/>
          </p:cNvSpPr>
          <p:nvPr>
            <p:ph type="dt" sz="half" idx="10"/>
          </p:nvPr>
        </p:nvSpPr>
        <p:spPr/>
        <p:txBody>
          <a:bodyPr/>
          <a:lstStyle/>
          <a:p>
            <a:fld id="{C56040A3-26B0-41B9-8D0E-A6E2BE76A0F6}" type="datetimeFigureOut">
              <a:rPr lang="es-CL" smtClean="0"/>
              <a:t>09-12-2025</a:t>
            </a:fld>
            <a:endParaRPr lang="es-CL"/>
          </a:p>
        </p:txBody>
      </p:sp>
      <p:sp>
        <p:nvSpPr>
          <p:cNvPr id="6" name="Marcador de pie de página 5"/>
          <p:cNvSpPr>
            <a:spLocks noGrp="1"/>
          </p:cNvSpPr>
          <p:nvPr>
            <p:ph type="ftr" sz="quarter" idx="11"/>
          </p:nvPr>
        </p:nvSpPr>
        <p:spPr/>
        <p:txBody>
          <a:bodyPr/>
          <a:lstStyle/>
          <a:p>
            <a:endParaRPr lang="es-CL"/>
          </a:p>
        </p:txBody>
      </p:sp>
      <p:sp>
        <p:nvSpPr>
          <p:cNvPr id="7" name="Marcador de número de diapositiva 6"/>
          <p:cNvSpPr>
            <a:spLocks noGrp="1"/>
          </p:cNvSpPr>
          <p:nvPr>
            <p:ph type="sldNum" sz="quarter" idx="12"/>
          </p:nvPr>
        </p:nvSpPr>
        <p:spPr/>
        <p:txBody>
          <a:bodyPr/>
          <a:lstStyle/>
          <a:p>
            <a:fld id="{B4A6B74D-EAB3-419D-9AFB-7734616CA1B2}" type="slidenum">
              <a:rPr lang="es-CL" smtClean="0"/>
              <a:t>‹Nº›</a:t>
            </a:fld>
            <a:endParaRPr lang="es-CL"/>
          </a:p>
        </p:txBody>
      </p:sp>
    </p:spTree>
    <p:extLst>
      <p:ext uri="{BB962C8B-B14F-4D97-AF65-F5344CB8AC3E}">
        <p14:creationId xmlns:p14="http://schemas.microsoft.com/office/powerpoint/2010/main" val="9873282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CL"/>
          </a:p>
        </p:txBody>
      </p:sp>
      <p:sp>
        <p:nvSpPr>
          <p:cNvPr id="3" name="Marcador de texto vertical 2"/>
          <p:cNvSpPr>
            <a:spLocks noGrp="1"/>
          </p:cNvSpPr>
          <p:nvPr>
            <p:ph type="body" orient="vert" idx="1"/>
          </p:nvPr>
        </p:nvSpPr>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fecha 3"/>
          <p:cNvSpPr>
            <a:spLocks noGrp="1"/>
          </p:cNvSpPr>
          <p:nvPr>
            <p:ph type="dt" sz="half" idx="10"/>
          </p:nvPr>
        </p:nvSpPr>
        <p:spPr/>
        <p:txBody>
          <a:bodyPr/>
          <a:lstStyle/>
          <a:p>
            <a:fld id="{C56040A3-26B0-41B9-8D0E-A6E2BE76A0F6}" type="datetimeFigureOut">
              <a:rPr lang="es-CL" smtClean="0"/>
              <a:t>09-12-2025</a:t>
            </a:fld>
            <a:endParaRPr lang="es-CL"/>
          </a:p>
        </p:txBody>
      </p:sp>
      <p:sp>
        <p:nvSpPr>
          <p:cNvPr id="5" name="Marcador de pie de página 4"/>
          <p:cNvSpPr>
            <a:spLocks noGrp="1"/>
          </p:cNvSpPr>
          <p:nvPr>
            <p:ph type="ftr" sz="quarter" idx="11"/>
          </p:nvPr>
        </p:nvSpPr>
        <p:spPr/>
        <p:txBody>
          <a:bodyPr/>
          <a:lstStyle/>
          <a:p>
            <a:endParaRPr lang="es-CL"/>
          </a:p>
        </p:txBody>
      </p:sp>
      <p:sp>
        <p:nvSpPr>
          <p:cNvPr id="6" name="Marcador de número de diapositiva 5"/>
          <p:cNvSpPr>
            <a:spLocks noGrp="1"/>
          </p:cNvSpPr>
          <p:nvPr>
            <p:ph type="sldNum" sz="quarter" idx="12"/>
          </p:nvPr>
        </p:nvSpPr>
        <p:spPr/>
        <p:txBody>
          <a:bodyPr/>
          <a:lstStyle/>
          <a:p>
            <a:fld id="{B4A6B74D-EAB3-419D-9AFB-7734616CA1B2}" type="slidenum">
              <a:rPr lang="es-CL" smtClean="0"/>
              <a:t>‹Nº›</a:t>
            </a:fld>
            <a:endParaRPr lang="es-CL"/>
          </a:p>
        </p:txBody>
      </p:sp>
    </p:spTree>
    <p:extLst>
      <p:ext uri="{BB962C8B-B14F-4D97-AF65-F5344CB8AC3E}">
        <p14:creationId xmlns:p14="http://schemas.microsoft.com/office/powerpoint/2010/main" val="33469954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CL"/>
          </a:p>
        </p:txBody>
      </p:sp>
      <p:sp>
        <p:nvSpPr>
          <p:cNvPr id="3" name="Marcador de texto vertical 2"/>
          <p:cNvSpPr>
            <a:spLocks noGrp="1"/>
          </p:cNvSpPr>
          <p:nvPr>
            <p:ph type="body" orient="vert" idx="1"/>
          </p:nvPr>
        </p:nvSpPr>
        <p:spPr>
          <a:xfrm>
            <a:off x="838200" y="365125"/>
            <a:ext cx="7734300" cy="5811838"/>
          </a:xfr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fecha 3"/>
          <p:cNvSpPr>
            <a:spLocks noGrp="1"/>
          </p:cNvSpPr>
          <p:nvPr>
            <p:ph type="dt" sz="half" idx="10"/>
          </p:nvPr>
        </p:nvSpPr>
        <p:spPr/>
        <p:txBody>
          <a:bodyPr/>
          <a:lstStyle/>
          <a:p>
            <a:fld id="{C56040A3-26B0-41B9-8D0E-A6E2BE76A0F6}" type="datetimeFigureOut">
              <a:rPr lang="es-CL" smtClean="0"/>
              <a:t>09-12-2025</a:t>
            </a:fld>
            <a:endParaRPr lang="es-CL"/>
          </a:p>
        </p:txBody>
      </p:sp>
      <p:sp>
        <p:nvSpPr>
          <p:cNvPr id="5" name="Marcador de pie de página 4"/>
          <p:cNvSpPr>
            <a:spLocks noGrp="1"/>
          </p:cNvSpPr>
          <p:nvPr>
            <p:ph type="ftr" sz="quarter" idx="11"/>
          </p:nvPr>
        </p:nvSpPr>
        <p:spPr/>
        <p:txBody>
          <a:bodyPr/>
          <a:lstStyle/>
          <a:p>
            <a:endParaRPr lang="es-CL"/>
          </a:p>
        </p:txBody>
      </p:sp>
      <p:sp>
        <p:nvSpPr>
          <p:cNvPr id="6" name="Marcador de número de diapositiva 5"/>
          <p:cNvSpPr>
            <a:spLocks noGrp="1"/>
          </p:cNvSpPr>
          <p:nvPr>
            <p:ph type="sldNum" sz="quarter" idx="12"/>
          </p:nvPr>
        </p:nvSpPr>
        <p:spPr/>
        <p:txBody>
          <a:bodyPr/>
          <a:lstStyle/>
          <a:p>
            <a:fld id="{B4A6B74D-EAB3-419D-9AFB-7734616CA1B2}" type="slidenum">
              <a:rPr lang="es-CL" smtClean="0"/>
              <a:t>‹Nº›</a:t>
            </a:fld>
            <a:endParaRPr lang="es-CL"/>
          </a:p>
        </p:txBody>
      </p:sp>
    </p:spTree>
    <p:extLst>
      <p:ext uri="{BB962C8B-B14F-4D97-AF65-F5344CB8AC3E}">
        <p14:creationId xmlns:p14="http://schemas.microsoft.com/office/powerpoint/2010/main" val="11288796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CL"/>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56040A3-26B0-41B9-8D0E-A6E2BE76A0F6}" type="datetimeFigureOut">
              <a:rPr lang="es-CL" smtClean="0"/>
              <a:t>09-12-2025</a:t>
            </a:fld>
            <a:endParaRPr lang="es-CL"/>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CL"/>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4A6B74D-EAB3-419D-9AFB-7734616CA1B2}" type="slidenum">
              <a:rPr lang="es-CL" smtClean="0"/>
              <a:t>‹Nº›</a:t>
            </a:fld>
            <a:endParaRPr lang="es-CL"/>
          </a:p>
        </p:txBody>
      </p:sp>
    </p:spTree>
    <p:extLst>
      <p:ext uri="{BB962C8B-B14F-4D97-AF65-F5344CB8AC3E}">
        <p14:creationId xmlns:p14="http://schemas.microsoft.com/office/powerpoint/2010/main" val="221201736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1407886" y="1398133"/>
            <a:ext cx="9144000" cy="1620837"/>
          </a:xfrm>
        </p:spPr>
        <p:txBody>
          <a:bodyPr/>
          <a:lstStyle/>
          <a:p>
            <a:r>
              <a:rPr lang="es-CL" dirty="0"/>
              <a:t>Presentación Final </a:t>
            </a:r>
            <a:r>
              <a:rPr lang="es-CL" dirty="0" err="1"/>
              <a:t>Capstone</a:t>
            </a:r>
            <a:br>
              <a:rPr lang="es-CL" dirty="0"/>
            </a:br>
            <a:r>
              <a:rPr lang="es-CL" sz="3200" dirty="0"/>
              <a:t>“</a:t>
            </a:r>
            <a:r>
              <a:rPr lang="es-ES" sz="3200" dirty="0"/>
              <a:t>SmartFlow – Sistema de Gestión y Reservas</a:t>
            </a:r>
            <a:r>
              <a:rPr lang="es-CL" sz="3200" dirty="0"/>
              <a:t>”</a:t>
            </a:r>
          </a:p>
        </p:txBody>
      </p:sp>
      <p:sp>
        <p:nvSpPr>
          <p:cNvPr id="3" name="Subtítulo 2"/>
          <p:cNvSpPr>
            <a:spLocks noGrp="1"/>
          </p:cNvSpPr>
          <p:nvPr>
            <p:ph type="subTitle" idx="1"/>
          </p:nvPr>
        </p:nvSpPr>
        <p:spPr>
          <a:xfrm>
            <a:off x="1524000" y="3562999"/>
            <a:ext cx="9144000" cy="1620837"/>
          </a:xfrm>
        </p:spPr>
        <p:txBody>
          <a:bodyPr>
            <a:noAutofit/>
          </a:bodyPr>
          <a:lstStyle/>
          <a:p>
            <a:r>
              <a:rPr lang="es-CL" sz="3200" dirty="0"/>
              <a:t>Ingeniería Informática</a:t>
            </a:r>
          </a:p>
          <a:p>
            <a:r>
              <a:rPr lang="es-CL" sz="1400" dirty="0"/>
              <a:t>Escuela de Informática y Telecomunicaciones</a:t>
            </a:r>
          </a:p>
          <a:p>
            <a:r>
              <a:rPr lang="es-CL" sz="1400" dirty="0"/>
              <a:t>Sede Puente Alto</a:t>
            </a:r>
          </a:p>
          <a:p>
            <a:r>
              <a:rPr lang="es-CL" sz="1400" dirty="0"/>
              <a:t>2025</a:t>
            </a:r>
          </a:p>
          <a:p>
            <a:endParaRPr lang="es-CL" sz="1400" dirty="0"/>
          </a:p>
          <a:p>
            <a:endParaRPr lang="es-CL" sz="1400" dirty="0"/>
          </a:p>
        </p:txBody>
      </p:sp>
    </p:spTree>
    <p:extLst>
      <p:ext uri="{BB962C8B-B14F-4D97-AF65-F5344CB8AC3E}">
        <p14:creationId xmlns:p14="http://schemas.microsoft.com/office/powerpoint/2010/main" val="21514339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uadroTexto 5">
            <a:extLst>
              <a:ext uri="{FF2B5EF4-FFF2-40B4-BE49-F238E27FC236}">
                <a16:creationId xmlns:a16="http://schemas.microsoft.com/office/drawing/2014/main" id="{C5D7939A-BC7B-E516-681B-96044152210D}"/>
              </a:ext>
            </a:extLst>
          </p:cNvPr>
          <p:cNvSpPr txBox="1"/>
          <p:nvPr/>
        </p:nvSpPr>
        <p:spPr>
          <a:xfrm>
            <a:off x="555827" y="2315666"/>
            <a:ext cx="2993823" cy="1200329"/>
          </a:xfrm>
          <a:prstGeom prst="rect">
            <a:avLst/>
          </a:prstGeom>
          <a:noFill/>
        </p:spPr>
        <p:txBody>
          <a:bodyPr wrap="square" rtlCol="0">
            <a:spAutoFit/>
          </a:bodyPr>
          <a:lstStyle/>
          <a:p>
            <a:pPr algn="ctr"/>
            <a:r>
              <a:rPr lang="es-MX" sz="3600" dirty="0"/>
              <a:t>INTEGRANTES DEL PROYECTO</a:t>
            </a:r>
            <a:endParaRPr lang="es-CL" dirty="0"/>
          </a:p>
        </p:txBody>
      </p:sp>
      <p:grpSp>
        <p:nvGrpSpPr>
          <p:cNvPr id="3" name="Google Shape;91;p2">
            <a:extLst>
              <a:ext uri="{FF2B5EF4-FFF2-40B4-BE49-F238E27FC236}">
                <a16:creationId xmlns:a16="http://schemas.microsoft.com/office/drawing/2014/main" id="{42FE8B18-F859-7409-D34D-19EC524F5D23}"/>
              </a:ext>
            </a:extLst>
          </p:cNvPr>
          <p:cNvGrpSpPr/>
          <p:nvPr/>
        </p:nvGrpSpPr>
        <p:grpSpPr>
          <a:xfrm>
            <a:off x="3987233" y="1265474"/>
            <a:ext cx="7048554" cy="5028999"/>
            <a:chOff x="0" y="0"/>
            <a:chExt cx="7048554" cy="3952411"/>
          </a:xfrm>
        </p:grpSpPr>
        <p:sp>
          <p:nvSpPr>
            <p:cNvPr id="4" name="Google Shape;92;p2">
              <a:extLst>
                <a:ext uri="{FF2B5EF4-FFF2-40B4-BE49-F238E27FC236}">
                  <a16:creationId xmlns:a16="http://schemas.microsoft.com/office/drawing/2014/main" id="{A0488654-C082-C6E6-D91F-420761BD1683}"/>
                </a:ext>
              </a:extLst>
            </p:cNvPr>
            <p:cNvSpPr/>
            <p:nvPr/>
          </p:nvSpPr>
          <p:spPr>
            <a:xfrm>
              <a:off x="0" y="0"/>
              <a:ext cx="6781017" cy="1727185"/>
            </a:xfrm>
            <a:prstGeom prst="roundRect">
              <a:avLst>
                <a:gd name="adj" fmla="val 10000"/>
              </a:avLst>
            </a:prstGeom>
            <a:gradFill>
              <a:gsLst>
                <a:gs pos="0">
                  <a:srgbClr val="5E81C9"/>
                </a:gs>
                <a:gs pos="50000">
                  <a:srgbClr val="3B70C9"/>
                </a:gs>
                <a:gs pos="100000">
                  <a:srgbClr val="2E60B8"/>
                </a:gs>
              </a:gsLst>
              <a:lin ang="5400000" scaled="0"/>
            </a:gradFill>
            <a:ln>
              <a:noFill/>
            </a:ln>
            <a:effectLst>
              <a:outerShdw blurRad="57150" dist="19050" dir="5400000" algn="ctr" rotWithShape="0">
                <a:srgbClr val="000000">
                  <a:alpha val="62745"/>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Google Shape;93;p2">
              <a:extLst>
                <a:ext uri="{FF2B5EF4-FFF2-40B4-BE49-F238E27FC236}">
                  <a16:creationId xmlns:a16="http://schemas.microsoft.com/office/drawing/2014/main" id="{B258C7C7-1071-5B36-7D00-A341490D25B5}"/>
                </a:ext>
              </a:extLst>
            </p:cNvPr>
            <p:cNvSpPr txBox="1"/>
            <p:nvPr/>
          </p:nvSpPr>
          <p:spPr>
            <a:xfrm>
              <a:off x="1462952" y="0"/>
              <a:ext cx="5318064" cy="1067494"/>
            </a:xfrm>
            <a:prstGeom prst="rect">
              <a:avLst/>
            </a:prstGeom>
            <a:noFill/>
            <a:ln>
              <a:noFill/>
            </a:ln>
          </p:spPr>
          <p:txBody>
            <a:bodyPr spcFirstLastPara="1" wrap="square" lIns="80000" tIns="80000" rIns="80000" bIns="80000" anchor="t" anchorCtr="0">
              <a:noAutofit/>
            </a:bodyPr>
            <a:lstStyle/>
            <a:p>
              <a:pPr marL="0" marR="0" lvl="0" indent="0" algn="l" rtl="0">
                <a:lnSpc>
                  <a:spcPct val="90000"/>
                </a:lnSpc>
                <a:spcBef>
                  <a:spcPts val="0"/>
                </a:spcBef>
                <a:spcAft>
                  <a:spcPts val="0"/>
                </a:spcAft>
                <a:buClr>
                  <a:schemeClr val="lt1"/>
                </a:buClr>
                <a:buSzPts val="2100"/>
                <a:buFont typeface="Calibri"/>
                <a:buNone/>
              </a:pPr>
              <a:r>
                <a:rPr lang="es-ES" sz="2100" b="0" i="0" u="none" strike="noStrike" cap="none" dirty="0" err="1">
                  <a:solidFill>
                    <a:schemeClr val="lt1"/>
                  </a:solidFill>
                  <a:latin typeface="Calibri"/>
                  <a:ea typeface="Calibri"/>
                  <a:cs typeface="Calibri"/>
                  <a:sym typeface="Calibri"/>
                </a:rPr>
                <a:t>Mallely</a:t>
              </a:r>
              <a:r>
                <a:rPr lang="es-ES" sz="2100" b="0" i="0" u="none" strike="noStrike" cap="none" dirty="0">
                  <a:solidFill>
                    <a:schemeClr val="lt1"/>
                  </a:solidFill>
                  <a:latin typeface="Calibri"/>
                  <a:ea typeface="Calibri"/>
                  <a:cs typeface="Calibri"/>
                  <a:sym typeface="Calibri"/>
                </a:rPr>
                <a:t> </a:t>
              </a:r>
              <a:r>
                <a:rPr lang="es-ES" sz="2100" b="0" i="0" u="none" strike="noStrike" cap="none" dirty="0" err="1">
                  <a:solidFill>
                    <a:schemeClr val="lt1"/>
                  </a:solidFill>
                  <a:latin typeface="Calibri"/>
                  <a:ea typeface="Calibri"/>
                  <a:cs typeface="Calibri"/>
                  <a:sym typeface="Calibri"/>
                </a:rPr>
                <a:t>Calfilaf</a:t>
              </a:r>
              <a:r>
                <a:rPr lang="es-ES" sz="2100" b="0" i="0" u="none" strike="noStrike" cap="none" dirty="0">
                  <a:solidFill>
                    <a:schemeClr val="lt1"/>
                  </a:solidFill>
                  <a:latin typeface="Calibri"/>
                  <a:ea typeface="Calibri"/>
                  <a:cs typeface="Calibri"/>
                  <a:sym typeface="Calibri"/>
                </a:rPr>
                <a:t> Aguayo</a:t>
              </a:r>
            </a:p>
            <a:p>
              <a:pPr marL="0" marR="0" lvl="0" indent="0" algn="l" rtl="0">
                <a:lnSpc>
                  <a:spcPct val="90000"/>
                </a:lnSpc>
                <a:spcBef>
                  <a:spcPts val="0"/>
                </a:spcBef>
                <a:spcAft>
                  <a:spcPts val="0"/>
                </a:spcAft>
                <a:buClr>
                  <a:schemeClr val="lt1"/>
                </a:buClr>
                <a:buSzPts val="2100"/>
                <a:buFont typeface="Calibri"/>
                <a:buNone/>
              </a:pPr>
              <a:r>
                <a:rPr lang="es-ES" sz="2100" b="0" i="0" u="none" strike="noStrike" cap="none" dirty="0">
                  <a:solidFill>
                    <a:schemeClr val="lt1"/>
                  </a:solidFill>
                  <a:latin typeface="Calibri"/>
                  <a:ea typeface="Calibri"/>
                  <a:cs typeface="Calibri"/>
                  <a:sym typeface="Calibri"/>
                </a:rPr>
                <a:t>Cargo: Gerente de Proyecto</a:t>
              </a:r>
            </a:p>
            <a:p>
              <a:pPr marL="0" marR="0" lvl="0" indent="0" algn="l" rtl="0">
                <a:lnSpc>
                  <a:spcPct val="90000"/>
                </a:lnSpc>
                <a:spcBef>
                  <a:spcPts val="0"/>
                </a:spcBef>
                <a:spcAft>
                  <a:spcPts val="0"/>
                </a:spcAft>
                <a:buClr>
                  <a:schemeClr val="lt1"/>
                </a:buClr>
                <a:buSzPts val="2100"/>
                <a:buFont typeface="Calibri"/>
                <a:buNone/>
              </a:pPr>
              <a:r>
                <a:rPr lang="es-ES" sz="2100" b="0" i="0" u="none" strike="noStrike" cap="none" dirty="0">
                  <a:solidFill>
                    <a:schemeClr val="lt1"/>
                  </a:solidFill>
                  <a:latin typeface="Calibri"/>
                  <a:ea typeface="Calibri"/>
                  <a:cs typeface="Calibri"/>
                  <a:sym typeface="Calibri"/>
                </a:rPr>
                <a:t>Funciones desempeñadas:</a:t>
              </a:r>
            </a:p>
            <a:p>
              <a:pPr marL="0" marR="0" lvl="0" indent="0" algn="l" rtl="0">
                <a:lnSpc>
                  <a:spcPct val="90000"/>
                </a:lnSpc>
                <a:spcBef>
                  <a:spcPts val="0"/>
                </a:spcBef>
                <a:spcAft>
                  <a:spcPts val="0"/>
                </a:spcAft>
                <a:buClr>
                  <a:schemeClr val="lt1"/>
                </a:buClr>
                <a:buSzPts val="2100"/>
                <a:buFont typeface="Calibri"/>
                <a:buNone/>
              </a:pPr>
              <a:r>
                <a:rPr lang="es-ES" sz="2100" b="0" i="0" u="none" strike="noStrike" cap="none" dirty="0">
                  <a:solidFill>
                    <a:schemeClr val="lt1"/>
                  </a:solidFill>
                  <a:latin typeface="Calibri"/>
                  <a:ea typeface="Calibri"/>
                  <a:cs typeface="Calibri"/>
                  <a:sym typeface="Calibri"/>
                </a:rPr>
                <a:t>Coordinación general del  proyecto</a:t>
              </a:r>
            </a:p>
            <a:p>
              <a:pPr marL="0" marR="0" lvl="0" indent="0" algn="l" rtl="0">
                <a:lnSpc>
                  <a:spcPct val="90000"/>
                </a:lnSpc>
                <a:spcBef>
                  <a:spcPts val="0"/>
                </a:spcBef>
                <a:spcAft>
                  <a:spcPts val="0"/>
                </a:spcAft>
                <a:buClr>
                  <a:schemeClr val="lt1"/>
                </a:buClr>
                <a:buSzPts val="2100"/>
                <a:buFont typeface="Calibri"/>
                <a:buNone/>
              </a:pPr>
              <a:r>
                <a:rPr lang="es-ES" sz="2100" b="0" i="0" u="none" strike="noStrike" cap="none" dirty="0">
                  <a:solidFill>
                    <a:schemeClr val="lt1"/>
                  </a:solidFill>
                  <a:latin typeface="Calibri"/>
                  <a:ea typeface="Calibri"/>
                  <a:cs typeface="Calibri"/>
                  <a:sym typeface="Calibri"/>
                </a:rPr>
                <a:t>Gestión de planificación y control de hitos</a:t>
              </a:r>
            </a:p>
            <a:p>
              <a:pPr marL="0" marR="0" lvl="0" indent="0" algn="l" rtl="0">
                <a:lnSpc>
                  <a:spcPct val="90000"/>
                </a:lnSpc>
                <a:spcBef>
                  <a:spcPts val="0"/>
                </a:spcBef>
                <a:spcAft>
                  <a:spcPts val="0"/>
                </a:spcAft>
                <a:buClr>
                  <a:schemeClr val="lt1"/>
                </a:buClr>
                <a:buSzPts val="2100"/>
                <a:buFont typeface="Calibri"/>
                <a:buNone/>
              </a:pPr>
              <a:r>
                <a:rPr lang="es-ES" sz="2100" b="0" i="0" u="none" strike="noStrike" cap="none" dirty="0">
                  <a:solidFill>
                    <a:schemeClr val="lt1"/>
                  </a:solidFill>
                  <a:latin typeface="Calibri"/>
                  <a:ea typeface="Calibri"/>
                  <a:cs typeface="Calibri"/>
                  <a:sym typeface="Calibri"/>
                </a:rPr>
                <a:t>Supervisión de documentación formal</a:t>
              </a:r>
            </a:p>
            <a:p>
              <a:pPr marL="0" marR="0" lvl="0" indent="0" algn="l" rtl="0">
                <a:lnSpc>
                  <a:spcPct val="90000"/>
                </a:lnSpc>
                <a:spcBef>
                  <a:spcPts val="0"/>
                </a:spcBef>
                <a:spcAft>
                  <a:spcPts val="0"/>
                </a:spcAft>
                <a:buClr>
                  <a:schemeClr val="lt1"/>
                </a:buClr>
                <a:buSzPts val="2100"/>
                <a:buFont typeface="Calibri"/>
                <a:buNone/>
              </a:pPr>
              <a:endParaRPr sz="1600" b="0" i="0" u="none" strike="noStrike" cap="none" dirty="0">
                <a:solidFill>
                  <a:schemeClr val="lt1"/>
                </a:solidFill>
                <a:latin typeface="Calibri"/>
                <a:ea typeface="Calibri"/>
                <a:cs typeface="Calibri"/>
                <a:sym typeface="Calibri"/>
              </a:endParaRPr>
            </a:p>
          </p:txBody>
        </p:sp>
        <p:sp>
          <p:nvSpPr>
            <p:cNvPr id="7" name="Google Shape;94;p2">
              <a:extLst>
                <a:ext uri="{FF2B5EF4-FFF2-40B4-BE49-F238E27FC236}">
                  <a16:creationId xmlns:a16="http://schemas.microsoft.com/office/drawing/2014/main" id="{AA451CE4-E20A-78AF-A2EF-BE800B4A664F}"/>
                </a:ext>
              </a:extLst>
            </p:cNvPr>
            <p:cNvSpPr/>
            <p:nvPr/>
          </p:nvSpPr>
          <p:spPr>
            <a:xfrm>
              <a:off x="106749" y="106749"/>
              <a:ext cx="1356203" cy="1525003"/>
            </a:xfrm>
            <a:prstGeom prst="roundRect">
              <a:avLst>
                <a:gd name="adj" fmla="val 10000"/>
              </a:avLst>
            </a:prstGeom>
            <a:solidFill>
              <a:srgbClr val="BFC8E3"/>
            </a:solidFill>
            <a:ln>
              <a:noFill/>
            </a:ln>
            <a:effectLst>
              <a:outerShdw blurRad="57150" dist="19050" dir="5400000" algn="ctr" rotWithShape="0">
                <a:srgbClr val="000000">
                  <a:alpha val="62745"/>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95;p2">
              <a:extLst>
                <a:ext uri="{FF2B5EF4-FFF2-40B4-BE49-F238E27FC236}">
                  <a16:creationId xmlns:a16="http://schemas.microsoft.com/office/drawing/2014/main" id="{2EECE72B-2866-FA1B-6876-C924AB3A4E8F}"/>
                </a:ext>
              </a:extLst>
            </p:cNvPr>
            <p:cNvSpPr/>
            <p:nvPr/>
          </p:nvSpPr>
          <p:spPr>
            <a:xfrm>
              <a:off x="106749" y="1941913"/>
              <a:ext cx="6781017" cy="2010498"/>
            </a:xfrm>
            <a:prstGeom prst="roundRect">
              <a:avLst>
                <a:gd name="adj" fmla="val 10000"/>
              </a:avLst>
            </a:prstGeom>
            <a:gradFill>
              <a:gsLst>
                <a:gs pos="0">
                  <a:srgbClr val="5E81C9"/>
                </a:gs>
                <a:gs pos="50000">
                  <a:srgbClr val="3B70C9"/>
                </a:gs>
                <a:gs pos="100000">
                  <a:srgbClr val="2E60B8"/>
                </a:gs>
              </a:gsLst>
              <a:lin ang="5400000" scaled="0"/>
            </a:gradFill>
            <a:ln>
              <a:noFill/>
            </a:ln>
            <a:effectLst>
              <a:outerShdw blurRad="57150" dist="19050" dir="5400000" algn="ctr" rotWithShape="0">
                <a:srgbClr val="000000">
                  <a:alpha val="62745"/>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96;p2">
              <a:extLst>
                <a:ext uri="{FF2B5EF4-FFF2-40B4-BE49-F238E27FC236}">
                  <a16:creationId xmlns:a16="http://schemas.microsoft.com/office/drawing/2014/main" id="{FAC51310-6947-DE4C-8093-16147113ED85}"/>
                </a:ext>
              </a:extLst>
            </p:cNvPr>
            <p:cNvSpPr txBox="1"/>
            <p:nvPr/>
          </p:nvSpPr>
          <p:spPr>
            <a:xfrm>
              <a:off x="1730490" y="2019998"/>
              <a:ext cx="5318064" cy="1569705"/>
            </a:xfrm>
            <a:prstGeom prst="rect">
              <a:avLst/>
            </a:prstGeom>
            <a:noFill/>
            <a:ln>
              <a:noFill/>
            </a:ln>
          </p:spPr>
          <p:txBody>
            <a:bodyPr spcFirstLastPara="1" wrap="square" lIns="80000" tIns="80000" rIns="80000" bIns="80000" anchor="t" anchorCtr="0">
              <a:noAutofit/>
            </a:bodyPr>
            <a:lstStyle/>
            <a:p>
              <a:pPr marL="0" marR="0" lvl="0" indent="0" algn="l" rtl="0">
                <a:lnSpc>
                  <a:spcPct val="90000"/>
                </a:lnSpc>
                <a:spcBef>
                  <a:spcPts val="0"/>
                </a:spcBef>
                <a:spcAft>
                  <a:spcPts val="0"/>
                </a:spcAft>
                <a:buClr>
                  <a:schemeClr val="lt1"/>
                </a:buClr>
                <a:buSzPts val="2100"/>
                <a:buFont typeface="Calibri"/>
                <a:buNone/>
              </a:pPr>
              <a:r>
                <a:rPr lang="es-ES" sz="2100" b="0" i="0" u="none" strike="noStrike" cap="none" dirty="0">
                  <a:solidFill>
                    <a:schemeClr val="lt1"/>
                  </a:solidFill>
                  <a:latin typeface="Calibri"/>
                  <a:ea typeface="Calibri"/>
                  <a:cs typeface="Calibri"/>
                  <a:sym typeface="Calibri"/>
                </a:rPr>
                <a:t>Josué Castillo</a:t>
              </a:r>
            </a:p>
            <a:p>
              <a:pPr marL="0" marR="0" lvl="0" indent="0" algn="l" rtl="0">
                <a:lnSpc>
                  <a:spcPct val="90000"/>
                </a:lnSpc>
                <a:spcBef>
                  <a:spcPts val="0"/>
                </a:spcBef>
                <a:spcAft>
                  <a:spcPts val="0"/>
                </a:spcAft>
                <a:buClr>
                  <a:schemeClr val="lt1"/>
                </a:buClr>
                <a:buSzPts val="2100"/>
                <a:buFont typeface="Calibri"/>
                <a:buNone/>
              </a:pPr>
              <a:r>
                <a:rPr lang="es-ES" sz="2100" b="0" i="0" u="none" strike="noStrike" cap="none" dirty="0">
                  <a:solidFill>
                    <a:schemeClr val="lt1"/>
                  </a:solidFill>
                  <a:latin typeface="Calibri"/>
                  <a:ea typeface="Calibri"/>
                  <a:cs typeface="Calibri"/>
                  <a:sym typeface="Calibri"/>
                </a:rPr>
                <a:t>Cargo: Jefe de Proyecto / Desarrollador Funciones desempeñadas:</a:t>
              </a:r>
            </a:p>
            <a:p>
              <a:pPr marL="0" marR="0" lvl="0" indent="0" algn="l" rtl="0">
                <a:lnSpc>
                  <a:spcPct val="90000"/>
                </a:lnSpc>
                <a:spcBef>
                  <a:spcPts val="0"/>
                </a:spcBef>
                <a:spcAft>
                  <a:spcPts val="0"/>
                </a:spcAft>
                <a:buClr>
                  <a:schemeClr val="lt1"/>
                </a:buClr>
                <a:buSzPts val="2100"/>
                <a:buFont typeface="Calibri"/>
                <a:buNone/>
              </a:pPr>
              <a:r>
                <a:rPr lang="es-ES" sz="2100" b="0" i="0" u="none" strike="noStrike" cap="none" dirty="0">
                  <a:solidFill>
                    <a:schemeClr val="lt1"/>
                  </a:solidFill>
                  <a:latin typeface="Calibri"/>
                  <a:ea typeface="Calibri"/>
                  <a:cs typeface="Calibri"/>
                  <a:sym typeface="Calibri"/>
                </a:rPr>
                <a:t>Desarrollo </a:t>
              </a:r>
              <a:r>
                <a:rPr lang="es-ES" sz="2100" b="0" i="0" u="none" strike="noStrike" cap="none" dirty="0" err="1">
                  <a:solidFill>
                    <a:schemeClr val="lt1"/>
                  </a:solidFill>
                  <a:latin typeface="Calibri"/>
                  <a:ea typeface="Calibri"/>
                  <a:cs typeface="Calibri"/>
                  <a:sym typeface="Calibri"/>
                </a:rPr>
                <a:t>backend</a:t>
              </a:r>
              <a:r>
                <a:rPr lang="es-ES" sz="2100" b="0" i="0" u="none" strike="noStrike" cap="none" dirty="0">
                  <a:solidFill>
                    <a:schemeClr val="lt1"/>
                  </a:solidFill>
                  <a:latin typeface="Calibri"/>
                  <a:ea typeface="Calibri"/>
                  <a:cs typeface="Calibri"/>
                  <a:sym typeface="Calibri"/>
                </a:rPr>
                <a:t> y </a:t>
              </a:r>
              <a:r>
                <a:rPr lang="es-ES" sz="2100" b="0" i="0" u="none" strike="noStrike" cap="none" dirty="0" err="1">
                  <a:solidFill>
                    <a:schemeClr val="lt1"/>
                  </a:solidFill>
                  <a:latin typeface="Calibri"/>
                  <a:ea typeface="Calibri"/>
                  <a:cs typeface="Calibri"/>
                  <a:sym typeface="Calibri"/>
                </a:rPr>
                <a:t>frontend</a:t>
              </a:r>
              <a:r>
                <a:rPr lang="es-ES" sz="2100" b="0" i="0" u="none" strike="noStrike" cap="none" dirty="0">
                  <a:solidFill>
                    <a:schemeClr val="lt1"/>
                  </a:solidFill>
                  <a:latin typeface="Calibri"/>
                  <a:ea typeface="Calibri"/>
                  <a:cs typeface="Calibri"/>
                  <a:sym typeface="Calibri"/>
                </a:rPr>
                <a:t> del sistema </a:t>
              </a:r>
              <a:r>
                <a:rPr lang="es-ES" sz="2100" b="0" i="0" u="none" strike="noStrike" cap="none" dirty="0" err="1">
                  <a:solidFill>
                    <a:schemeClr val="lt1"/>
                  </a:solidFill>
                  <a:latin typeface="Calibri"/>
                  <a:ea typeface="Calibri"/>
                  <a:cs typeface="Calibri"/>
                  <a:sym typeface="Calibri"/>
                </a:rPr>
                <a:t>SmartFlowDiseño</a:t>
              </a:r>
              <a:r>
                <a:rPr lang="es-ES" sz="2100" b="0" i="0" u="none" strike="noStrike" cap="none" dirty="0">
                  <a:solidFill>
                    <a:schemeClr val="lt1"/>
                  </a:solidFill>
                  <a:latin typeface="Calibri"/>
                  <a:ea typeface="Calibri"/>
                  <a:cs typeface="Calibri"/>
                  <a:sym typeface="Calibri"/>
                </a:rPr>
                <a:t> de arquitectura, base de datos y lógica de negocio Creación e implementación de módulos CRUD y módulo de reservas</a:t>
              </a:r>
              <a:endParaRPr sz="1600" b="0" i="0" u="none" strike="noStrike" cap="none" dirty="0">
                <a:solidFill>
                  <a:schemeClr val="lt1"/>
                </a:solidFill>
                <a:latin typeface="Calibri"/>
                <a:ea typeface="Calibri"/>
                <a:cs typeface="Calibri"/>
                <a:sym typeface="Calibri"/>
              </a:endParaRPr>
            </a:p>
          </p:txBody>
        </p:sp>
        <p:sp>
          <p:nvSpPr>
            <p:cNvPr id="10" name="Google Shape;97;p2">
              <a:extLst>
                <a:ext uri="{FF2B5EF4-FFF2-40B4-BE49-F238E27FC236}">
                  <a16:creationId xmlns:a16="http://schemas.microsoft.com/office/drawing/2014/main" id="{B61D615F-0671-4072-34EC-22DEB54C62B1}"/>
                </a:ext>
              </a:extLst>
            </p:cNvPr>
            <p:cNvSpPr/>
            <p:nvPr/>
          </p:nvSpPr>
          <p:spPr>
            <a:xfrm>
              <a:off x="240518" y="2019998"/>
              <a:ext cx="1356203" cy="1764835"/>
            </a:xfrm>
            <a:prstGeom prst="roundRect">
              <a:avLst>
                <a:gd name="adj" fmla="val 10000"/>
              </a:avLst>
            </a:prstGeom>
            <a:solidFill>
              <a:srgbClr val="BFC8E3"/>
            </a:solidFill>
            <a:ln>
              <a:noFill/>
            </a:ln>
            <a:effectLst>
              <a:outerShdw blurRad="57150" dist="19050" dir="5400000" algn="ctr" rotWithShape="0">
                <a:srgbClr val="000000">
                  <a:alpha val="62745"/>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19735998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p:cNvSpPr>
            <a:spLocks noGrp="1"/>
          </p:cNvSpPr>
          <p:nvPr>
            <p:ph type="title"/>
          </p:nvPr>
        </p:nvSpPr>
        <p:spPr>
          <a:xfrm>
            <a:off x="725659" y="1110713"/>
            <a:ext cx="10515600" cy="718087"/>
          </a:xfrm>
        </p:spPr>
        <p:txBody>
          <a:bodyPr/>
          <a:lstStyle/>
          <a:p>
            <a:r>
              <a:rPr lang="es-CL" dirty="0"/>
              <a:t>Descripción del Proyecto</a:t>
            </a:r>
          </a:p>
        </p:txBody>
      </p:sp>
      <p:sp>
        <p:nvSpPr>
          <p:cNvPr id="2" name="Rectángulo: esquinas redondeadas 1">
            <a:extLst>
              <a:ext uri="{FF2B5EF4-FFF2-40B4-BE49-F238E27FC236}">
                <a16:creationId xmlns:a16="http://schemas.microsoft.com/office/drawing/2014/main" id="{3CAAA338-F429-9042-FFA7-A873477A3F80}"/>
              </a:ext>
            </a:extLst>
          </p:cNvPr>
          <p:cNvSpPr/>
          <p:nvPr/>
        </p:nvSpPr>
        <p:spPr>
          <a:xfrm>
            <a:off x="990599" y="2169769"/>
            <a:ext cx="4399113" cy="3823527"/>
          </a:xfrm>
          <a:prstGeom prst="roundRect">
            <a:avLst>
              <a:gd name="adj" fmla="val 10901"/>
            </a:avLst>
          </a:prstGeom>
        </p:spPr>
        <p:style>
          <a:lnRef idx="2">
            <a:schemeClr val="accent1"/>
          </a:lnRef>
          <a:fillRef idx="1">
            <a:schemeClr val="lt1"/>
          </a:fillRef>
          <a:effectRef idx="0">
            <a:schemeClr val="accent1"/>
          </a:effectRef>
          <a:fontRef idx="minor">
            <a:schemeClr val="dk1"/>
          </a:fontRef>
        </p:style>
        <p:txBody>
          <a:bodyPr rtlCol="0" anchor="t" anchorCtr="0"/>
          <a:lstStyle/>
          <a:p>
            <a:pPr lvl="0" algn="ctr"/>
            <a:r>
              <a:rPr lang="es-MX" sz="2800" u="sng" dirty="0"/>
              <a:t>Problema o dolor</a:t>
            </a:r>
          </a:p>
          <a:p>
            <a:pPr lvl="0" algn="ctr"/>
            <a:endParaRPr lang="es-MX" u="sng" dirty="0"/>
          </a:p>
          <a:p>
            <a:pPr algn="just"/>
            <a:r>
              <a:rPr lang="es-ES" dirty="0"/>
              <a:t>Los procesos de atención académica en Duoc UC son lentos, manuales y poco eficientes, ya que dependen de múltiples intermediarios y sistemas desconectados. Los estudiantes deben enviar solicitudes por distintos canales y esperar largos tiempos de respuesta, mientras los coordinadores gestionan todo de forma manual, sin trazabilidad ni automatización.</a:t>
            </a:r>
            <a:endParaRPr lang="es-CL" sz="1800" u="sng" dirty="0"/>
          </a:p>
        </p:txBody>
      </p:sp>
      <p:sp>
        <p:nvSpPr>
          <p:cNvPr id="3" name="Rectángulo: esquinas redondeadas 2">
            <a:extLst>
              <a:ext uri="{FF2B5EF4-FFF2-40B4-BE49-F238E27FC236}">
                <a16:creationId xmlns:a16="http://schemas.microsoft.com/office/drawing/2014/main" id="{066F7A35-626F-23CE-7A47-1D8E5CBBB80B}"/>
              </a:ext>
            </a:extLst>
          </p:cNvPr>
          <p:cNvSpPr/>
          <p:nvPr/>
        </p:nvSpPr>
        <p:spPr>
          <a:xfrm>
            <a:off x="6664635" y="2177325"/>
            <a:ext cx="4399113" cy="3815971"/>
          </a:xfrm>
          <a:prstGeom prst="roundRect">
            <a:avLst>
              <a:gd name="adj" fmla="val 10901"/>
            </a:avLst>
          </a:prstGeom>
        </p:spPr>
        <p:style>
          <a:lnRef idx="2">
            <a:schemeClr val="accent1"/>
          </a:lnRef>
          <a:fillRef idx="1">
            <a:schemeClr val="lt1"/>
          </a:fillRef>
          <a:effectRef idx="0">
            <a:schemeClr val="accent1"/>
          </a:effectRef>
          <a:fontRef idx="minor">
            <a:schemeClr val="dk1"/>
          </a:fontRef>
        </p:style>
        <p:txBody>
          <a:bodyPr rtlCol="0" anchor="t" anchorCtr="0"/>
          <a:lstStyle/>
          <a:p>
            <a:pPr lvl="0" algn="ctr"/>
            <a:r>
              <a:rPr lang="es-MX" sz="2800" u="sng" dirty="0"/>
              <a:t>Propuesta de solución</a:t>
            </a:r>
          </a:p>
          <a:p>
            <a:pPr lvl="0" algn="ctr"/>
            <a:endParaRPr lang="es-MX" u="sng" dirty="0"/>
          </a:p>
          <a:p>
            <a:pPr lvl="0" algn="just"/>
            <a:r>
              <a:rPr lang="es-ES" dirty="0"/>
              <a:t>SmartFlow es una plataforma web que centraliza y automatiza la gestión académica, permitiendo a los estudiantes enviar solicitudes, agendar reservas y recibir notificaciones en un solo lugar. El sistema reduce tiempos de atención, elimina procesos manuales y entrega trazabilidad completa a coordinadores y administradores.</a:t>
            </a:r>
            <a:endParaRPr lang="es-CL" sz="1800" dirty="0"/>
          </a:p>
        </p:txBody>
      </p:sp>
      <p:sp>
        <p:nvSpPr>
          <p:cNvPr id="6" name="Flecha: a la derecha 5">
            <a:extLst>
              <a:ext uri="{FF2B5EF4-FFF2-40B4-BE49-F238E27FC236}">
                <a16:creationId xmlns:a16="http://schemas.microsoft.com/office/drawing/2014/main" id="{8FB58451-B5D0-BDE6-FFE9-4D940E71256C}"/>
              </a:ext>
            </a:extLst>
          </p:cNvPr>
          <p:cNvSpPr/>
          <p:nvPr/>
        </p:nvSpPr>
        <p:spPr>
          <a:xfrm>
            <a:off x="5456903" y="3736258"/>
            <a:ext cx="893097" cy="48649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Tree>
    <p:extLst>
      <p:ext uri="{BB962C8B-B14F-4D97-AF65-F5344CB8AC3E}">
        <p14:creationId xmlns:p14="http://schemas.microsoft.com/office/powerpoint/2010/main" val="21130914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fade">
                                      <p:cBhvr>
                                        <p:cTn id="15"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6"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esquinas redondeadas 1">
            <a:extLst>
              <a:ext uri="{FF2B5EF4-FFF2-40B4-BE49-F238E27FC236}">
                <a16:creationId xmlns:a16="http://schemas.microsoft.com/office/drawing/2014/main" id="{1F1CFDA6-4B15-1117-A158-08C7A7DC2C2C}"/>
              </a:ext>
            </a:extLst>
          </p:cNvPr>
          <p:cNvSpPr/>
          <p:nvPr/>
        </p:nvSpPr>
        <p:spPr>
          <a:xfrm>
            <a:off x="614515" y="2040571"/>
            <a:ext cx="10962967" cy="1388429"/>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s-ES" dirty="0"/>
              <a:t>Desarrollar un sistema web que optimice la gestión académica mediante la automatización de solicitudes, reservas y notificaciones, mejorando la eficiencia y trazabilidad entre estudiantes y coordinadores.</a:t>
            </a:r>
            <a:endParaRPr lang="es-CL" dirty="0"/>
          </a:p>
        </p:txBody>
      </p:sp>
      <p:sp>
        <p:nvSpPr>
          <p:cNvPr id="3" name="Rectángulo: esquinas redondeadas 2">
            <a:extLst>
              <a:ext uri="{FF2B5EF4-FFF2-40B4-BE49-F238E27FC236}">
                <a16:creationId xmlns:a16="http://schemas.microsoft.com/office/drawing/2014/main" id="{68ECD55C-14AF-66FA-ED98-BC5A00C9EF6C}"/>
              </a:ext>
            </a:extLst>
          </p:cNvPr>
          <p:cNvSpPr/>
          <p:nvPr/>
        </p:nvSpPr>
        <p:spPr>
          <a:xfrm>
            <a:off x="639916" y="4567307"/>
            <a:ext cx="10962967" cy="1575221"/>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s-ES" dirty="0"/>
              <a:t>Los objetivos específicos del proyecto son automatizar la gestión de solicitudes académicas, implementar un sistema de reservas con disponibilidad en tiempo real, integrar notificaciones automáticas para mejorar la comunicación entre estudiantes y coordinadores, desarrollar un </a:t>
            </a:r>
            <a:r>
              <a:rPr lang="es-ES" dirty="0" err="1"/>
              <a:t>dashboard</a:t>
            </a:r>
            <a:r>
              <a:rPr lang="es-ES" dirty="0"/>
              <a:t> administrativo que permita visualizar métricas y reportes, y asegurar la trazabilidad del sistema mediante auditorías y registro de actividades.</a:t>
            </a:r>
            <a:endParaRPr lang="es-CL" dirty="0"/>
          </a:p>
        </p:txBody>
      </p:sp>
      <p:sp>
        <p:nvSpPr>
          <p:cNvPr id="5" name="CuadroTexto 4">
            <a:extLst>
              <a:ext uri="{FF2B5EF4-FFF2-40B4-BE49-F238E27FC236}">
                <a16:creationId xmlns:a16="http://schemas.microsoft.com/office/drawing/2014/main" id="{5EF79C96-AB81-4E82-DFF5-8BABB8C6C3B1}"/>
              </a:ext>
            </a:extLst>
          </p:cNvPr>
          <p:cNvSpPr txBox="1"/>
          <p:nvPr/>
        </p:nvSpPr>
        <p:spPr>
          <a:xfrm>
            <a:off x="152400" y="1197198"/>
            <a:ext cx="11938000" cy="646331"/>
          </a:xfrm>
          <a:prstGeom prst="rect">
            <a:avLst/>
          </a:prstGeom>
          <a:noFill/>
        </p:spPr>
        <p:txBody>
          <a:bodyPr wrap="square" rtlCol="0">
            <a:spAutoFit/>
          </a:bodyPr>
          <a:lstStyle/>
          <a:p>
            <a:pPr algn="ctr"/>
            <a:r>
              <a:rPr lang="es-MX" sz="3600" dirty="0"/>
              <a:t>Objetivo General</a:t>
            </a:r>
            <a:endParaRPr lang="es-CL" dirty="0"/>
          </a:p>
        </p:txBody>
      </p:sp>
      <p:sp>
        <p:nvSpPr>
          <p:cNvPr id="6" name="CuadroTexto 5">
            <a:extLst>
              <a:ext uri="{FF2B5EF4-FFF2-40B4-BE49-F238E27FC236}">
                <a16:creationId xmlns:a16="http://schemas.microsoft.com/office/drawing/2014/main" id="{F5A578C5-359E-EE93-4566-7B93CDA5020B}"/>
              </a:ext>
            </a:extLst>
          </p:cNvPr>
          <p:cNvSpPr txBox="1"/>
          <p:nvPr/>
        </p:nvSpPr>
        <p:spPr>
          <a:xfrm>
            <a:off x="196850" y="3838425"/>
            <a:ext cx="11938000" cy="646331"/>
          </a:xfrm>
          <a:prstGeom prst="rect">
            <a:avLst/>
          </a:prstGeom>
          <a:noFill/>
        </p:spPr>
        <p:txBody>
          <a:bodyPr wrap="square" rtlCol="0">
            <a:spAutoFit/>
          </a:bodyPr>
          <a:lstStyle/>
          <a:p>
            <a:pPr algn="ctr"/>
            <a:r>
              <a:rPr lang="es-MX" sz="3600" dirty="0"/>
              <a:t>Objetivos Específicos</a:t>
            </a:r>
            <a:endParaRPr lang="es-CL" dirty="0"/>
          </a:p>
        </p:txBody>
      </p:sp>
    </p:spTree>
    <p:extLst>
      <p:ext uri="{BB962C8B-B14F-4D97-AF65-F5344CB8AC3E}">
        <p14:creationId xmlns:p14="http://schemas.microsoft.com/office/powerpoint/2010/main" val="7429251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6"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8395EB6-0790-1074-8DC4-6F60EE6E8BA7}"/>
              </a:ext>
            </a:extLst>
          </p:cNvPr>
          <p:cNvSpPr>
            <a:spLocks noGrp="1"/>
          </p:cNvSpPr>
          <p:nvPr>
            <p:ph type="title"/>
          </p:nvPr>
        </p:nvSpPr>
        <p:spPr/>
        <p:txBody>
          <a:bodyPr/>
          <a:lstStyle/>
          <a:p>
            <a:r>
              <a:rPr lang="es-ES" dirty="0"/>
              <a:t>AS IS </a:t>
            </a:r>
            <a:endParaRPr lang="es-CL" dirty="0"/>
          </a:p>
        </p:txBody>
      </p:sp>
      <p:pic>
        <p:nvPicPr>
          <p:cNvPr id="3" name="Imagen 2" descr="Diagrama&#10;&#10;El contenido generado por IA puede ser incorrecto.">
            <a:extLst>
              <a:ext uri="{FF2B5EF4-FFF2-40B4-BE49-F238E27FC236}">
                <a16:creationId xmlns:a16="http://schemas.microsoft.com/office/drawing/2014/main" id="{F853F3BB-FFFC-E7B2-8E92-64AE7A9C01E7}"/>
              </a:ext>
            </a:extLst>
          </p:cNvPr>
          <p:cNvPicPr>
            <a:picLocks noChangeAspect="1"/>
          </p:cNvPicPr>
          <p:nvPr/>
        </p:nvPicPr>
        <p:blipFill>
          <a:blip r:embed="rId2"/>
          <a:stretch>
            <a:fillRect/>
          </a:stretch>
        </p:blipFill>
        <p:spPr>
          <a:xfrm>
            <a:off x="2166729" y="1158627"/>
            <a:ext cx="9074427" cy="5334248"/>
          </a:xfrm>
          <a:prstGeom prst="rect">
            <a:avLst/>
          </a:prstGeom>
        </p:spPr>
      </p:pic>
    </p:spTree>
    <p:extLst>
      <p:ext uri="{BB962C8B-B14F-4D97-AF65-F5344CB8AC3E}">
        <p14:creationId xmlns:p14="http://schemas.microsoft.com/office/powerpoint/2010/main" val="23945699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B512CAF-5CD2-A11F-1EAA-A2D22D445ACD}"/>
              </a:ext>
            </a:extLst>
          </p:cNvPr>
          <p:cNvSpPr>
            <a:spLocks noGrp="1"/>
          </p:cNvSpPr>
          <p:nvPr>
            <p:ph type="title"/>
          </p:nvPr>
        </p:nvSpPr>
        <p:spPr/>
        <p:txBody>
          <a:bodyPr/>
          <a:lstStyle/>
          <a:p>
            <a:r>
              <a:rPr lang="es-ES" dirty="0"/>
              <a:t>TO BE</a:t>
            </a:r>
            <a:endParaRPr lang="es-CL" dirty="0"/>
          </a:p>
        </p:txBody>
      </p:sp>
      <p:pic>
        <p:nvPicPr>
          <p:cNvPr id="3" name="Imagen 2" descr="Gráfico, Gráfico de dispersión&#10;&#10;El contenido generado por IA puede ser incorrecto.">
            <a:extLst>
              <a:ext uri="{FF2B5EF4-FFF2-40B4-BE49-F238E27FC236}">
                <a16:creationId xmlns:a16="http://schemas.microsoft.com/office/drawing/2014/main" id="{425EE4C5-751D-59AC-58D5-F686E3C9991F}"/>
              </a:ext>
            </a:extLst>
          </p:cNvPr>
          <p:cNvPicPr>
            <a:picLocks noChangeAspect="1"/>
          </p:cNvPicPr>
          <p:nvPr/>
        </p:nvPicPr>
        <p:blipFill>
          <a:blip r:embed="rId2"/>
          <a:stretch>
            <a:fillRect/>
          </a:stretch>
        </p:blipFill>
        <p:spPr>
          <a:xfrm>
            <a:off x="2537792" y="805146"/>
            <a:ext cx="8816008" cy="5923645"/>
          </a:xfrm>
          <a:prstGeom prst="rect">
            <a:avLst/>
          </a:prstGeom>
        </p:spPr>
      </p:pic>
    </p:spTree>
    <p:extLst>
      <p:ext uri="{BB962C8B-B14F-4D97-AF65-F5344CB8AC3E}">
        <p14:creationId xmlns:p14="http://schemas.microsoft.com/office/powerpoint/2010/main" val="4486260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p:cNvSpPr>
            <a:spLocks noGrp="1"/>
          </p:cNvSpPr>
          <p:nvPr>
            <p:ph type="title"/>
          </p:nvPr>
        </p:nvSpPr>
        <p:spPr>
          <a:xfrm>
            <a:off x="810065" y="809447"/>
            <a:ext cx="10515600" cy="750840"/>
          </a:xfrm>
        </p:spPr>
        <p:txBody>
          <a:bodyPr/>
          <a:lstStyle/>
          <a:p>
            <a:r>
              <a:rPr lang="es-CL" dirty="0"/>
              <a:t>Alcances y Limitaciones del Proyecto</a:t>
            </a:r>
          </a:p>
        </p:txBody>
      </p:sp>
      <p:sp>
        <p:nvSpPr>
          <p:cNvPr id="5" name="CuadroTexto 4"/>
          <p:cNvSpPr txBox="1"/>
          <p:nvPr/>
        </p:nvSpPr>
        <p:spPr>
          <a:xfrm>
            <a:off x="1031395" y="1560287"/>
            <a:ext cx="10072940" cy="5078313"/>
          </a:xfrm>
          <a:prstGeom prst="rect">
            <a:avLst/>
          </a:prstGeom>
          <a:noFill/>
        </p:spPr>
        <p:txBody>
          <a:bodyPr wrap="square" rtlCol="0">
            <a:spAutoFit/>
          </a:bodyPr>
          <a:lstStyle/>
          <a:p>
            <a:r>
              <a:rPr lang="es-CL" dirty="0"/>
              <a:t>Que hace el Sistema:</a:t>
            </a:r>
          </a:p>
          <a:p>
            <a:r>
              <a:rPr lang="es-ES" dirty="0"/>
              <a:t>Gestiona solicitudes y reservas</a:t>
            </a:r>
          </a:p>
          <a:p>
            <a:r>
              <a:rPr lang="es-ES" dirty="0"/>
              <a:t>automatiza notificaciones</a:t>
            </a:r>
          </a:p>
          <a:p>
            <a:r>
              <a:rPr lang="es-ES" dirty="0"/>
              <a:t>permite administrar usuarios</a:t>
            </a:r>
          </a:p>
          <a:p>
            <a:r>
              <a:rPr lang="es-ES" dirty="0"/>
              <a:t>genera reportes PDF/XLS</a:t>
            </a:r>
          </a:p>
          <a:p>
            <a:r>
              <a:rPr lang="es-ES" dirty="0"/>
              <a:t>muestra métricas en el </a:t>
            </a:r>
            <a:r>
              <a:rPr lang="es-ES" dirty="0" err="1"/>
              <a:t>Dashboard</a:t>
            </a:r>
            <a:r>
              <a:rPr lang="es-ES" dirty="0"/>
              <a:t> y registra auditoría.</a:t>
            </a:r>
            <a:r>
              <a:rPr lang="es-CL" dirty="0"/>
              <a:t> </a:t>
            </a:r>
          </a:p>
          <a:p>
            <a:endParaRPr lang="es-CL" dirty="0"/>
          </a:p>
          <a:p>
            <a:r>
              <a:rPr lang="es-CL" dirty="0"/>
              <a:t>Qué no hace:</a:t>
            </a:r>
          </a:p>
          <a:p>
            <a:r>
              <a:rPr lang="es-ES" dirty="0"/>
              <a:t>No gestiona pagos</a:t>
            </a:r>
          </a:p>
          <a:p>
            <a:r>
              <a:rPr lang="es-ES" dirty="0"/>
              <a:t> no se integra con sistemas institucionales externos</a:t>
            </a:r>
          </a:p>
          <a:p>
            <a:r>
              <a:rPr lang="es-ES" dirty="0"/>
              <a:t>no reemplaza plataformas oficiales</a:t>
            </a:r>
          </a:p>
          <a:p>
            <a:r>
              <a:rPr lang="es-ES" dirty="0"/>
              <a:t> no incluye app móvil ni módulos académicos como notas o matrículas.</a:t>
            </a:r>
            <a:endParaRPr lang="es-CL" dirty="0"/>
          </a:p>
          <a:p>
            <a:endParaRPr lang="es-CL" dirty="0"/>
          </a:p>
          <a:p>
            <a:endParaRPr lang="es-CL" dirty="0"/>
          </a:p>
          <a:p>
            <a:endParaRPr lang="es-CL" dirty="0"/>
          </a:p>
          <a:p>
            <a:endParaRPr lang="es-CL" dirty="0"/>
          </a:p>
          <a:p>
            <a:endParaRPr lang="es-CL" dirty="0"/>
          </a:p>
          <a:p>
            <a:endParaRPr lang="es-CL" dirty="0"/>
          </a:p>
        </p:txBody>
      </p:sp>
    </p:spTree>
    <p:extLst>
      <p:ext uri="{BB962C8B-B14F-4D97-AF65-F5344CB8AC3E}">
        <p14:creationId xmlns:p14="http://schemas.microsoft.com/office/powerpoint/2010/main" val="40080412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p:cNvSpPr>
            <a:spLocks noGrp="1"/>
          </p:cNvSpPr>
          <p:nvPr>
            <p:ph type="title"/>
          </p:nvPr>
        </p:nvSpPr>
        <p:spPr>
          <a:xfrm>
            <a:off x="841416" y="1054442"/>
            <a:ext cx="10515600" cy="752587"/>
          </a:xfrm>
        </p:spPr>
        <p:txBody>
          <a:bodyPr/>
          <a:lstStyle/>
          <a:p>
            <a:r>
              <a:rPr lang="es-CL" dirty="0"/>
              <a:t>Lista de Requerimientos Funcionales</a:t>
            </a:r>
          </a:p>
        </p:txBody>
      </p:sp>
      <p:sp>
        <p:nvSpPr>
          <p:cNvPr id="2" name="Rectángulo: esquinas redondeadas 1">
            <a:extLst>
              <a:ext uri="{FF2B5EF4-FFF2-40B4-BE49-F238E27FC236}">
                <a16:creationId xmlns:a16="http://schemas.microsoft.com/office/drawing/2014/main" id="{E3D74629-6040-F658-DDEF-7F56A5261CFD}"/>
              </a:ext>
            </a:extLst>
          </p:cNvPr>
          <p:cNvSpPr/>
          <p:nvPr/>
        </p:nvSpPr>
        <p:spPr>
          <a:xfrm>
            <a:off x="829392" y="1941431"/>
            <a:ext cx="10365542" cy="4332514"/>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s-CL" dirty="0"/>
          </a:p>
        </p:txBody>
      </p:sp>
      <p:pic>
        <p:nvPicPr>
          <p:cNvPr id="8" name="Imagen 7" descr="Tabla&#10;&#10;El contenido generado por IA puede ser incorrecto.">
            <a:extLst>
              <a:ext uri="{FF2B5EF4-FFF2-40B4-BE49-F238E27FC236}">
                <a16:creationId xmlns:a16="http://schemas.microsoft.com/office/drawing/2014/main" id="{D065CB0F-1853-CFAA-7729-F3C49E0A91E0}"/>
              </a:ext>
            </a:extLst>
          </p:cNvPr>
          <p:cNvPicPr>
            <a:picLocks noChangeAspect="1"/>
          </p:cNvPicPr>
          <p:nvPr/>
        </p:nvPicPr>
        <p:blipFill>
          <a:blip r:embed="rId2"/>
          <a:srcRect l="13387" b="51646"/>
          <a:stretch>
            <a:fillRect/>
          </a:stretch>
        </p:blipFill>
        <p:spPr>
          <a:xfrm>
            <a:off x="1568376" y="2875643"/>
            <a:ext cx="4581498" cy="2612652"/>
          </a:xfrm>
          <a:prstGeom prst="rect">
            <a:avLst/>
          </a:prstGeom>
        </p:spPr>
      </p:pic>
      <p:pic>
        <p:nvPicPr>
          <p:cNvPr id="9" name="Imagen 8" descr="Tabla&#10;&#10;El contenido generado por IA puede ser incorrecto.">
            <a:extLst>
              <a:ext uri="{FF2B5EF4-FFF2-40B4-BE49-F238E27FC236}">
                <a16:creationId xmlns:a16="http://schemas.microsoft.com/office/drawing/2014/main" id="{7398DEC4-EE28-1F1F-B4BC-878F3044D28C}"/>
              </a:ext>
            </a:extLst>
          </p:cNvPr>
          <p:cNvPicPr>
            <a:picLocks noChangeAspect="1"/>
          </p:cNvPicPr>
          <p:nvPr/>
        </p:nvPicPr>
        <p:blipFill>
          <a:blip r:embed="rId2"/>
          <a:srcRect l="13102" t="47290" r="12886"/>
          <a:stretch>
            <a:fillRect/>
          </a:stretch>
        </p:blipFill>
        <p:spPr>
          <a:xfrm>
            <a:off x="6910831" y="2710160"/>
            <a:ext cx="3818130" cy="3093398"/>
          </a:xfrm>
          <a:prstGeom prst="rect">
            <a:avLst/>
          </a:prstGeom>
        </p:spPr>
      </p:pic>
      <p:sp>
        <p:nvSpPr>
          <p:cNvPr id="10" name="CuadroTexto 9">
            <a:extLst>
              <a:ext uri="{FF2B5EF4-FFF2-40B4-BE49-F238E27FC236}">
                <a16:creationId xmlns:a16="http://schemas.microsoft.com/office/drawing/2014/main" id="{B7BAC814-97D4-4F72-E41B-A3871BFD5127}"/>
              </a:ext>
            </a:extLst>
          </p:cNvPr>
          <p:cNvSpPr txBox="1"/>
          <p:nvPr/>
        </p:nvSpPr>
        <p:spPr>
          <a:xfrm flipH="1">
            <a:off x="980438" y="2810639"/>
            <a:ext cx="645161" cy="2677656"/>
          </a:xfrm>
          <a:prstGeom prst="rect">
            <a:avLst/>
          </a:prstGeom>
          <a:noFill/>
        </p:spPr>
        <p:txBody>
          <a:bodyPr wrap="square" rtlCol="0">
            <a:spAutoFit/>
          </a:bodyPr>
          <a:lstStyle/>
          <a:p>
            <a:pPr algn="r"/>
            <a:r>
              <a:rPr lang="es-CL" sz="1400" dirty="0"/>
              <a:t>1.- </a:t>
            </a:r>
          </a:p>
          <a:p>
            <a:pPr algn="r"/>
            <a:r>
              <a:rPr lang="es-CL" sz="1400" dirty="0"/>
              <a:t>2.-</a:t>
            </a:r>
          </a:p>
          <a:p>
            <a:pPr algn="r"/>
            <a:r>
              <a:rPr lang="es-CL" sz="1400" dirty="0"/>
              <a:t>3.-</a:t>
            </a:r>
          </a:p>
          <a:p>
            <a:pPr algn="r"/>
            <a:r>
              <a:rPr lang="es-CL" sz="1400" dirty="0"/>
              <a:t>4.-</a:t>
            </a:r>
          </a:p>
          <a:p>
            <a:pPr algn="r"/>
            <a:r>
              <a:rPr lang="es-CL" sz="1400" dirty="0"/>
              <a:t>5.-</a:t>
            </a:r>
          </a:p>
          <a:p>
            <a:pPr algn="r"/>
            <a:r>
              <a:rPr lang="es-CL" sz="1400" dirty="0"/>
              <a:t>6.-</a:t>
            </a:r>
          </a:p>
          <a:p>
            <a:pPr algn="r"/>
            <a:r>
              <a:rPr lang="es-CL" sz="1400" dirty="0"/>
              <a:t>7.-</a:t>
            </a:r>
          </a:p>
          <a:p>
            <a:pPr algn="r"/>
            <a:r>
              <a:rPr lang="es-CL" sz="1400" dirty="0"/>
              <a:t>8.-</a:t>
            </a:r>
          </a:p>
          <a:p>
            <a:pPr algn="r"/>
            <a:r>
              <a:rPr lang="es-CL" sz="1400" dirty="0"/>
              <a:t>9.-</a:t>
            </a:r>
          </a:p>
          <a:p>
            <a:pPr algn="r"/>
            <a:r>
              <a:rPr lang="es-CL" sz="1400" dirty="0"/>
              <a:t>10.-</a:t>
            </a:r>
          </a:p>
          <a:p>
            <a:pPr algn="r"/>
            <a:r>
              <a:rPr lang="es-CL" sz="1400" dirty="0"/>
              <a:t>11.-</a:t>
            </a:r>
          </a:p>
          <a:p>
            <a:pPr algn="r"/>
            <a:r>
              <a:rPr lang="es-CL" sz="1400" dirty="0"/>
              <a:t>12.-</a:t>
            </a:r>
          </a:p>
        </p:txBody>
      </p:sp>
      <p:sp>
        <p:nvSpPr>
          <p:cNvPr id="11" name="CuadroTexto 10">
            <a:extLst>
              <a:ext uri="{FF2B5EF4-FFF2-40B4-BE49-F238E27FC236}">
                <a16:creationId xmlns:a16="http://schemas.microsoft.com/office/drawing/2014/main" id="{44F93B36-791E-96E5-E291-028C261520DF}"/>
              </a:ext>
            </a:extLst>
          </p:cNvPr>
          <p:cNvSpPr txBox="1"/>
          <p:nvPr/>
        </p:nvSpPr>
        <p:spPr>
          <a:xfrm flipH="1">
            <a:off x="6348655" y="2710160"/>
            <a:ext cx="645161" cy="3108543"/>
          </a:xfrm>
          <a:prstGeom prst="rect">
            <a:avLst/>
          </a:prstGeom>
          <a:noFill/>
        </p:spPr>
        <p:txBody>
          <a:bodyPr wrap="square" rtlCol="0">
            <a:spAutoFit/>
          </a:bodyPr>
          <a:lstStyle/>
          <a:p>
            <a:pPr algn="r"/>
            <a:r>
              <a:rPr lang="es-CL" sz="1400" dirty="0"/>
              <a:t>12.-</a:t>
            </a:r>
          </a:p>
          <a:p>
            <a:pPr algn="r"/>
            <a:r>
              <a:rPr lang="es-CL" sz="1400" dirty="0"/>
              <a:t>13.-</a:t>
            </a:r>
          </a:p>
          <a:p>
            <a:pPr algn="r"/>
            <a:r>
              <a:rPr lang="es-CL" sz="1400" dirty="0"/>
              <a:t>14.-</a:t>
            </a:r>
          </a:p>
          <a:p>
            <a:pPr algn="r"/>
            <a:r>
              <a:rPr lang="es-CL" sz="1400" dirty="0"/>
              <a:t>15.-</a:t>
            </a:r>
          </a:p>
          <a:p>
            <a:pPr algn="r"/>
            <a:r>
              <a:rPr lang="es-CL" sz="1400" dirty="0"/>
              <a:t>16.-</a:t>
            </a:r>
          </a:p>
          <a:p>
            <a:pPr algn="r"/>
            <a:r>
              <a:rPr lang="es-CL" sz="1400" dirty="0"/>
              <a:t>17.-</a:t>
            </a:r>
          </a:p>
          <a:p>
            <a:pPr algn="r"/>
            <a:r>
              <a:rPr lang="es-CL" sz="1400" dirty="0"/>
              <a:t>18.-</a:t>
            </a:r>
          </a:p>
          <a:p>
            <a:pPr algn="r"/>
            <a:r>
              <a:rPr lang="es-CL" sz="1400" dirty="0"/>
              <a:t>19.-</a:t>
            </a:r>
          </a:p>
          <a:p>
            <a:pPr algn="r"/>
            <a:r>
              <a:rPr lang="es-CL" sz="1400" dirty="0"/>
              <a:t>20.-</a:t>
            </a:r>
          </a:p>
          <a:p>
            <a:pPr algn="r"/>
            <a:r>
              <a:rPr lang="es-CL" sz="1400" dirty="0"/>
              <a:t>21.-</a:t>
            </a:r>
          </a:p>
          <a:p>
            <a:pPr algn="r"/>
            <a:r>
              <a:rPr lang="es-CL" sz="1400" dirty="0"/>
              <a:t>22.-</a:t>
            </a:r>
          </a:p>
          <a:p>
            <a:pPr algn="r"/>
            <a:r>
              <a:rPr lang="es-CL" sz="1400" dirty="0"/>
              <a:t>23.-</a:t>
            </a:r>
          </a:p>
          <a:p>
            <a:pPr algn="r"/>
            <a:r>
              <a:rPr lang="es-CL" sz="1400" dirty="0"/>
              <a:t>24.-</a:t>
            </a:r>
          </a:p>
          <a:p>
            <a:pPr algn="r"/>
            <a:r>
              <a:rPr lang="es-CL" sz="1400" dirty="0"/>
              <a:t>25.-</a:t>
            </a:r>
          </a:p>
        </p:txBody>
      </p:sp>
    </p:spTree>
    <p:extLst>
      <p:ext uri="{BB962C8B-B14F-4D97-AF65-F5344CB8AC3E}">
        <p14:creationId xmlns:p14="http://schemas.microsoft.com/office/powerpoint/2010/main" val="15040901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p:cNvSpPr>
            <a:spLocks noGrp="1"/>
          </p:cNvSpPr>
          <p:nvPr>
            <p:ph type="title"/>
          </p:nvPr>
        </p:nvSpPr>
        <p:spPr>
          <a:xfrm>
            <a:off x="841416" y="1054443"/>
            <a:ext cx="10515600" cy="723558"/>
          </a:xfrm>
        </p:spPr>
        <p:txBody>
          <a:bodyPr/>
          <a:lstStyle/>
          <a:p>
            <a:r>
              <a:rPr lang="es-CL" dirty="0"/>
              <a:t>Lista de Requerimientos No Funcionales</a:t>
            </a:r>
          </a:p>
        </p:txBody>
      </p:sp>
      <p:sp>
        <p:nvSpPr>
          <p:cNvPr id="2" name="Rectángulo: esquinas redondeadas 1">
            <a:extLst>
              <a:ext uri="{FF2B5EF4-FFF2-40B4-BE49-F238E27FC236}">
                <a16:creationId xmlns:a16="http://schemas.microsoft.com/office/drawing/2014/main" id="{62A002D9-9DE7-CEF6-1EEE-9402516FA7DD}"/>
              </a:ext>
            </a:extLst>
          </p:cNvPr>
          <p:cNvSpPr/>
          <p:nvPr/>
        </p:nvSpPr>
        <p:spPr>
          <a:xfrm>
            <a:off x="1042274" y="1988457"/>
            <a:ext cx="10314742" cy="4223657"/>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s-CL" dirty="0"/>
          </a:p>
        </p:txBody>
      </p:sp>
      <p:pic>
        <p:nvPicPr>
          <p:cNvPr id="6" name="Imagen 5" descr="Interfaz de usuario gráfica, Texto, Aplicación, Correo electrónico&#10;&#10;El contenido generado por IA puede ser incorrecto.">
            <a:extLst>
              <a:ext uri="{FF2B5EF4-FFF2-40B4-BE49-F238E27FC236}">
                <a16:creationId xmlns:a16="http://schemas.microsoft.com/office/drawing/2014/main" id="{6D1F508D-B9C3-4054-A5C4-3F44D5AB8CF5}"/>
              </a:ext>
            </a:extLst>
          </p:cNvPr>
          <p:cNvPicPr>
            <a:picLocks noChangeAspect="1"/>
          </p:cNvPicPr>
          <p:nvPr/>
        </p:nvPicPr>
        <p:blipFill>
          <a:blip r:embed="rId2"/>
          <a:srcRect t="631" r="42627"/>
          <a:stretch>
            <a:fillRect/>
          </a:stretch>
        </p:blipFill>
        <p:spPr>
          <a:xfrm>
            <a:off x="2509519" y="2455040"/>
            <a:ext cx="4329403" cy="2862322"/>
          </a:xfrm>
          <a:prstGeom prst="rect">
            <a:avLst/>
          </a:prstGeom>
        </p:spPr>
      </p:pic>
      <p:sp>
        <p:nvSpPr>
          <p:cNvPr id="8" name="CuadroTexto 7">
            <a:extLst>
              <a:ext uri="{FF2B5EF4-FFF2-40B4-BE49-F238E27FC236}">
                <a16:creationId xmlns:a16="http://schemas.microsoft.com/office/drawing/2014/main" id="{62CE5BBA-0B6D-BE24-62F1-76C6AB5623B9}"/>
              </a:ext>
            </a:extLst>
          </p:cNvPr>
          <p:cNvSpPr txBox="1"/>
          <p:nvPr/>
        </p:nvSpPr>
        <p:spPr>
          <a:xfrm flipH="1">
            <a:off x="1864358" y="2455039"/>
            <a:ext cx="645161" cy="2862322"/>
          </a:xfrm>
          <a:prstGeom prst="rect">
            <a:avLst/>
          </a:prstGeom>
          <a:noFill/>
        </p:spPr>
        <p:txBody>
          <a:bodyPr wrap="square" rtlCol="0">
            <a:spAutoFit/>
          </a:bodyPr>
          <a:lstStyle/>
          <a:p>
            <a:pPr algn="r"/>
            <a:r>
              <a:rPr lang="es-CL" dirty="0"/>
              <a:t>1.- </a:t>
            </a:r>
          </a:p>
          <a:p>
            <a:pPr algn="r"/>
            <a:r>
              <a:rPr lang="es-CL" dirty="0"/>
              <a:t>2.-</a:t>
            </a:r>
          </a:p>
          <a:p>
            <a:pPr algn="r"/>
            <a:r>
              <a:rPr lang="es-CL" dirty="0"/>
              <a:t>3.-</a:t>
            </a:r>
          </a:p>
          <a:p>
            <a:pPr algn="r"/>
            <a:r>
              <a:rPr lang="es-CL" dirty="0"/>
              <a:t>4.-</a:t>
            </a:r>
          </a:p>
          <a:p>
            <a:pPr algn="r"/>
            <a:r>
              <a:rPr lang="es-CL" dirty="0"/>
              <a:t>5.-</a:t>
            </a:r>
          </a:p>
          <a:p>
            <a:pPr algn="r"/>
            <a:r>
              <a:rPr lang="es-CL" dirty="0"/>
              <a:t>6.-</a:t>
            </a:r>
          </a:p>
          <a:p>
            <a:pPr algn="r"/>
            <a:r>
              <a:rPr lang="es-CL" dirty="0"/>
              <a:t>7.-</a:t>
            </a:r>
          </a:p>
          <a:p>
            <a:pPr algn="r"/>
            <a:r>
              <a:rPr lang="es-CL" dirty="0"/>
              <a:t>8.-</a:t>
            </a:r>
          </a:p>
          <a:p>
            <a:pPr algn="r"/>
            <a:r>
              <a:rPr lang="es-CL" dirty="0"/>
              <a:t>9.-</a:t>
            </a:r>
          </a:p>
          <a:p>
            <a:pPr algn="r"/>
            <a:r>
              <a:rPr lang="es-CL" dirty="0"/>
              <a:t>10.-</a:t>
            </a:r>
          </a:p>
        </p:txBody>
      </p:sp>
    </p:spTree>
    <p:extLst>
      <p:ext uri="{BB962C8B-B14F-4D97-AF65-F5344CB8AC3E}">
        <p14:creationId xmlns:p14="http://schemas.microsoft.com/office/powerpoint/2010/main" val="15365477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3882A37-693A-0852-F3DA-9973F40FFA6C}"/>
              </a:ext>
            </a:extLst>
          </p:cNvPr>
          <p:cNvSpPr>
            <a:spLocks noGrp="1"/>
          </p:cNvSpPr>
          <p:nvPr>
            <p:ph type="title"/>
          </p:nvPr>
        </p:nvSpPr>
        <p:spPr/>
        <p:txBody>
          <a:bodyPr/>
          <a:lstStyle/>
          <a:p>
            <a:r>
              <a:rPr lang="es-CL" b="1" dirty="0"/>
              <a:t>Arquitectura del Sistema</a:t>
            </a:r>
            <a:endParaRPr lang="es-CL" dirty="0"/>
          </a:p>
        </p:txBody>
      </p:sp>
      <p:pic>
        <p:nvPicPr>
          <p:cNvPr id="3" name="Imagen 2">
            <a:extLst>
              <a:ext uri="{FF2B5EF4-FFF2-40B4-BE49-F238E27FC236}">
                <a16:creationId xmlns:a16="http://schemas.microsoft.com/office/drawing/2014/main" id="{39E415A0-FFF6-5EAF-4D04-48FE372F4078}"/>
              </a:ext>
            </a:extLst>
          </p:cNvPr>
          <p:cNvPicPr>
            <a:picLocks noChangeAspect="1"/>
          </p:cNvPicPr>
          <p:nvPr/>
        </p:nvPicPr>
        <p:blipFill>
          <a:blip r:embed="rId2">
            <a:extLst>
              <a:ext uri="{28A0092B-C50C-407E-A947-70E740481C1C}">
                <a14:useLocalDpi xmlns:a14="http://schemas.microsoft.com/office/drawing/2010/main" val="0"/>
              </a:ext>
            </a:extLst>
          </a:blip>
          <a:srcRect b="-1804"/>
          <a:stretch>
            <a:fillRect/>
          </a:stretch>
        </p:blipFill>
        <p:spPr>
          <a:xfrm>
            <a:off x="2414454" y="1437369"/>
            <a:ext cx="6953066" cy="5308871"/>
          </a:xfrm>
          <a:prstGeom prst="rect">
            <a:avLst/>
          </a:prstGeom>
        </p:spPr>
      </p:pic>
    </p:spTree>
    <p:extLst>
      <p:ext uri="{BB962C8B-B14F-4D97-AF65-F5344CB8AC3E}">
        <p14:creationId xmlns:p14="http://schemas.microsoft.com/office/powerpoint/2010/main" val="35242899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p:cNvSpPr>
            <a:spLocks noGrp="1"/>
          </p:cNvSpPr>
          <p:nvPr>
            <p:ph type="title"/>
          </p:nvPr>
        </p:nvSpPr>
        <p:spPr>
          <a:xfrm>
            <a:off x="641252" y="1068511"/>
            <a:ext cx="10515600" cy="520804"/>
          </a:xfrm>
        </p:spPr>
        <p:txBody>
          <a:bodyPr>
            <a:normAutofit fontScale="90000"/>
          </a:bodyPr>
          <a:lstStyle/>
          <a:p>
            <a:r>
              <a:rPr lang="es-CL" dirty="0"/>
              <a:t>Diseño del Sistema</a:t>
            </a:r>
          </a:p>
        </p:txBody>
      </p:sp>
      <p:sp>
        <p:nvSpPr>
          <p:cNvPr id="5" name="CuadroTexto 4"/>
          <p:cNvSpPr txBox="1"/>
          <p:nvPr/>
        </p:nvSpPr>
        <p:spPr>
          <a:xfrm>
            <a:off x="757367" y="1848356"/>
            <a:ext cx="9990462" cy="2031325"/>
          </a:xfrm>
          <a:prstGeom prst="rect">
            <a:avLst/>
          </a:prstGeom>
          <a:noFill/>
        </p:spPr>
        <p:txBody>
          <a:bodyPr wrap="square" rtlCol="0">
            <a:spAutoFit/>
          </a:bodyPr>
          <a:lstStyle/>
          <a:p>
            <a:endParaRPr lang="es-CL" dirty="0"/>
          </a:p>
          <a:p>
            <a:endParaRPr lang="es-CL" dirty="0"/>
          </a:p>
          <a:p>
            <a:endParaRPr lang="es-CL" dirty="0"/>
          </a:p>
          <a:p>
            <a:endParaRPr lang="es-CL" dirty="0"/>
          </a:p>
          <a:p>
            <a:endParaRPr lang="es-CL" dirty="0"/>
          </a:p>
          <a:p>
            <a:endParaRPr lang="es-CL" dirty="0"/>
          </a:p>
          <a:p>
            <a:endParaRPr lang="es-CL" dirty="0"/>
          </a:p>
        </p:txBody>
      </p:sp>
      <p:pic>
        <p:nvPicPr>
          <p:cNvPr id="2" name="Picture 1">
            <a:extLst>
              <a:ext uri="{FF2B5EF4-FFF2-40B4-BE49-F238E27FC236}">
                <a16:creationId xmlns:a16="http://schemas.microsoft.com/office/drawing/2014/main" id="{6F86E83A-ACA6-693A-0095-9C7499A5034F}"/>
              </a:ext>
            </a:extLst>
          </p:cNvPr>
          <p:cNvPicPr>
            <a:picLocks noChangeAspect="1"/>
          </p:cNvPicPr>
          <p:nvPr/>
        </p:nvPicPr>
        <p:blipFill>
          <a:blip r:embed="rId2"/>
          <a:srcRect b="54098"/>
          <a:stretch>
            <a:fillRect/>
          </a:stretch>
        </p:blipFill>
        <p:spPr>
          <a:xfrm>
            <a:off x="641252" y="1917519"/>
            <a:ext cx="3731102" cy="4439738"/>
          </a:xfrm>
          <a:prstGeom prst="rect">
            <a:avLst/>
          </a:prstGeom>
        </p:spPr>
      </p:pic>
      <p:pic>
        <p:nvPicPr>
          <p:cNvPr id="3" name="Picture 1">
            <a:extLst>
              <a:ext uri="{FF2B5EF4-FFF2-40B4-BE49-F238E27FC236}">
                <a16:creationId xmlns:a16="http://schemas.microsoft.com/office/drawing/2014/main" id="{16C5DDDD-8A9E-4B55-969A-F3589A5C9EFE}"/>
              </a:ext>
            </a:extLst>
          </p:cNvPr>
          <p:cNvPicPr>
            <a:picLocks noChangeAspect="1"/>
          </p:cNvPicPr>
          <p:nvPr/>
        </p:nvPicPr>
        <p:blipFill>
          <a:blip r:embed="rId2"/>
          <a:srcRect t="44701"/>
          <a:stretch>
            <a:fillRect/>
          </a:stretch>
        </p:blipFill>
        <p:spPr>
          <a:xfrm>
            <a:off x="5464628" y="1589315"/>
            <a:ext cx="3407229" cy="4884319"/>
          </a:xfrm>
          <a:prstGeom prst="rect">
            <a:avLst/>
          </a:prstGeom>
        </p:spPr>
      </p:pic>
    </p:spTree>
    <p:extLst>
      <p:ext uri="{BB962C8B-B14F-4D97-AF65-F5344CB8AC3E}">
        <p14:creationId xmlns:p14="http://schemas.microsoft.com/office/powerpoint/2010/main" val="5953746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p:cNvSpPr>
            <a:spLocks noGrp="1"/>
          </p:cNvSpPr>
          <p:nvPr>
            <p:ph type="title"/>
          </p:nvPr>
        </p:nvSpPr>
        <p:spPr>
          <a:xfrm>
            <a:off x="641252" y="1068511"/>
            <a:ext cx="10515600" cy="644176"/>
          </a:xfrm>
        </p:spPr>
        <p:txBody>
          <a:bodyPr>
            <a:normAutofit fontScale="90000"/>
          </a:bodyPr>
          <a:lstStyle/>
          <a:p>
            <a:r>
              <a:rPr lang="es-CL" dirty="0"/>
              <a:t>Diseño del Sistema</a:t>
            </a:r>
          </a:p>
        </p:txBody>
      </p:sp>
      <p:pic>
        <p:nvPicPr>
          <p:cNvPr id="2" name="Imagen 1" descr="Diagrama&#10;&#10;El contenido generado por IA puede ser incorrecto.">
            <a:extLst>
              <a:ext uri="{FF2B5EF4-FFF2-40B4-BE49-F238E27FC236}">
                <a16:creationId xmlns:a16="http://schemas.microsoft.com/office/drawing/2014/main" id="{163B6391-A1B2-657C-A7A2-1182CCF1195F}"/>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121262" y="1865088"/>
            <a:ext cx="8261611" cy="4650812"/>
          </a:xfrm>
          <a:prstGeom prst="rect">
            <a:avLst/>
          </a:prstGeom>
          <a:noFill/>
          <a:ln>
            <a:noFill/>
          </a:ln>
        </p:spPr>
      </p:pic>
    </p:spTree>
    <p:extLst>
      <p:ext uri="{BB962C8B-B14F-4D97-AF65-F5344CB8AC3E}">
        <p14:creationId xmlns:p14="http://schemas.microsoft.com/office/powerpoint/2010/main" val="26155373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p:cNvSpPr>
            <a:spLocks noGrp="1"/>
          </p:cNvSpPr>
          <p:nvPr>
            <p:ph type="title"/>
          </p:nvPr>
        </p:nvSpPr>
        <p:spPr>
          <a:xfrm>
            <a:off x="641252" y="1068511"/>
            <a:ext cx="10515600" cy="644176"/>
          </a:xfrm>
        </p:spPr>
        <p:txBody>
          <a:bodyPr>
            <a:normAutofit fontScale="90000"/>
          </a:bodyPr>
          <a:lstStyle/>
          <a:p>
            <a:r>
              <a:rPr lang="es-CL" dirty="0"/>
              <a:t>Tecnologías del Desarrollo</a:t>
            </a:r>
          </a:p>
        </p:txBody>
      </p:sp>
      <p:sp>
        <p:nvSpPr>
          <p:cNvPr id="5" name="CuadroTexto 4"/>
          <p:cNvSpPr txBox="1"/>
          <p:nvPr/>
        </p:nvSpPr>
        <p:spPr>
          <a:xfrm>
            <a:off x="641252" y="1828016"/>
            <a:ext cx="10861319" cy="2031325"/>
          </a:xfrm>
          <a:prstGeom prst="rect">
            <a:avLst/>
          </a:prstGeom>
          <a:noFill/>
        </p:spPr>
        <p:txBody>
          <a:bodyPr wrap="square" rtlCol="0">
            <a:spAutoFit/>
          </a:bodyPr>
          <a:lstStyle/>
          <a:p>
            <a:endParaRPr lang="es-CL" dirty="0"/>
          </a:p>
          <a:p>
            <a:endParaRPr lang="es-CL" dirty="0"/>
          </a:p>
          <a:p>
            <a:endParaRPr lang="es-CL" dirty="0"/>
          </a:p>
          <a:p>
            <a:endParaRPr lang="es-CL" dirty="0"/>
          </a:p>
          <a:p>
            <a:endParaRPr lang="es-CL" dirty="0"/>
          </a:p>
          <a:p>
            <a:endParaRPr lang="es-CL" dirty="0"/>
          </a:p>
          <a:p>
            <a:endParaRPr lang="es-CL" dirty="0"/>
          </a:p>
        </p:txBody>
      </p:sp>
      <p:graphicFrame>
        <p:nvGraphicFramePr>
          <p:cNvPr id="2" name="Tabla 1">
            <a:extLst>
              <a:ext uri="{FF2B5EF4-FFF2-40B4-BE49-F238E27FC236}">
                <a16:creationId xmlns:a16="http://schemas.microsoft.com/office/drawing/2014/main" id="{CFB4F378-AED2-F041-BB5E-BC85ECCEAAF5}"/>
              </a:ext>
            </a:extLst>
          </p:cNvPr>
          <p:cNvGraphicFramePr>
            <a:graphicFrameLocks noGrp="1"/>
          </p:cNvGraphicFramePr>
          <p:nvPr>
            <p:extLst>
              <p:ext uri="{D42A27DB-BD31-4B8C-83A1-F6EECF244321}">
                <p14:modId xmlns:p14="http://schemas.microsoft.com/office/powerpoint/2010/main" val="857094311"/>
              </p:ext>
            </p:extLst>
          </p:nvPr>
        </p:nvGraphicFramePr>
        <p:xfrm>
          <a:off x="2193917" y="1978026"/>
          <a:ext cx="6672051" cy="4351336"/>
        </p:xfrm>
        <a:graphic>
          <a:graphicData uri="http://schemas.openxmlformats.org/drawingml/2006/table">
            <a:tbl>
              <a:tblPr/>
              <a:tblGrid>
                <a:gridCol w="2224017">
                  <a:extLst>
                    <a:ext uri="{9D8B030D-6E8A-4147-A177-3AD203B41FA5}">
                      <a16:colId xmlns:a16="http://schemas.microsoft.com/office/drawing/2014/main" val="2292199172"/>
                    </a:ext>
                  </a:extLst>
                </a:gridCol>
                <a:gridCol w="2224017">
                  <a:extLst>
                    <a:ext uri="{9D8B030D-6E8A-4147-A177-3AD203B41FA5}">
                      <a16:colId xmlns:a16="http://schemas.microsoft.com/office/drawing/2014/main" val="660789380"/>
                    </a:ext>
                  </a:extLst>
                </a:gridCol>
                <a:gridCol w="2224017">
                  <a:extLst>
                    <a:ext uri="{9D8B030D-6E8A-4147-A177-3AD203B41FA5}">
                      <a16:colId xmlns:a16="http://schemas.microsoft.com/office/drawing/2014/main" val="4041084699"/>
                    </a:ext>
                  </a:extLst>
                </a:gridCol>
              </a:tblGrid>
              <a:tr h="232071">
                <a:tc>
                  <a:txBody>
                    <a:bodyPr/>
                    <a:lstStyle/>
                    <a:p>
                      <a:pPr>
                        <a:buNone/>
                      </a:pPr>
                      <a:r>
                        <a:rPr lang="es-CL" sz="1100" b="1"/>
                        <a:t>Categoría</a:t>
                      </a:r>
                      <a:endParaRPr lang="es-CL" sz="1100"/>
                    </a:p>
                  </a:txBody>
                  <a:tcPr marL="58018" marR="58018" marT="29009" marB="29009" anchor="ctr">
                    <a:lnL>
                      <a:noFill/>
                    </a:lnL>
                    <a:lnR>
                      <a:noFill/>
                    </a:lnR>
                    <a:lnT>
                      <a:noFill/>
                    </a:lnT>
                    <a:lnB>
                      <a:noFill/>
                    </a:lnB>
                    <a:noFill/>
                  </a:tcPr>
                </a:tc>
                <a:tc>
                  <a:txBody>
                    <a:bodyPr/>
                    <a:lstStyle/>
                    <a:p>
                      <a:pPr>
                        <a:buNone/>
                      </a:pPr>
                      <a:r>
                        <a:rPr lang="es-CL" sz="1100" b="1"/>
                        <a:t>Tecnología / Versión</a:t>
                      </a:r>
                      <a:endParaRPr lang="es-CL" sz="1100"/>
                    </a:p>
                  </a:txBody>
                  <a:tcPr marL="58018" marR="58018" marT="29009" marB="29009" anchor="ctr">
                    <a:lnL>
                      <a:noFill/>
                    </a:lnL>
                    <a:lnR>
                      <a:noFill/>
                    </a:lnR>
                    <a:lnT>
                      <a:noFill/>
                    </a:lnT>
                    <a:lnB>
                      <a:noFill/>
                    </a:lnB>
                    <a:noFill/>
                  </a:tcPr>
                </a:tc>
                <a:tc>
                  <a:txBody>
                    <a:bodyPr/>
                    <a:lstStyle/>
                    <a:p>
                      <a:pPr>
                        <a:buNone/>
                      </a:pPr>
                      <a:r>
                        <a:rPr lang="es-CL" sz="1100" b="1"/>
                        <a:t>Descripción</a:t>
                      </a:r>
                      <a:endParaRPr lang="es-CL" sz="1100"/>
                    </a:p>
                  </a:txBody>
                  <a:tcPr marL="58018" marR="58018" marT="29009" marB="29009" anchor="ctr">
                    <a:lnL>
                      <a:noFill/>
                    </a:lnL>
                    <a:lnR>
                      <a:noFill/>
                    </a:lnR>
                    <a:lnT>
                      <a:noFill/>
                    </a:lnT>
                    <a:lnB>
                      <a:noFill/>
                    </a:lnB>
                    <a:noFill/>
                  </a:tcPr>
                </a:tc>
                <a:extLst>
                  <a:ext uri="{0D108BD9-81ED-4DB2-BD59-A6C34878D82A}">
                    <a16:rowId xmlns:a16="http://schemas.microsoft.com/office/drawing/2014/main" val="1376906812"/>
                  </a:ext>
                </a:extLst>
              </a:tr>
              <a:tr h="580178">
                <a:tc>
                  <a:txBody>
                    <a:bodyPr/>
                    <a:lstStyle/>
                    <a:p>
                      <a:pPr>
                        <a:buNone/>
                      </a:pPr>
                      <a:r>
                        <a:rPr lang="es-CL" sz="1100" b="1"/>
                        <a:t>Backend</a:t>
                      </a:r>
                      <a:endParaRPr lang="es-CL" sz="1100"/>
                    </a:p>
                  </a:txBody>
                  <a:tcPr marL="58018" marR="58018" marT="29009" marB="29009" anchor="ctr">
                    <a:lnL>
                      <a:noFill/>
                    </a:lnL>
                    <a:lnR>
                      <a:noFill/>
                    </a:lnR>
                    <a:lnT>
                      <a:noFill/>
                    </a:lnT>
                    <a:lnB>
                      <a:noFill/>
                    </a:lnB>
                    <a:noFill/>
                  </a:tcPr>
                </a:tc>
                <a:tc>
                  <a:txBody>
                    <a:bodyPr/>
                    <a:lstStyle/>
                    <a:p>
                      <a:pPr>
                        <a:buNone/>
                      </a:pPr>
                      <a:r>
                        <a:rPr lang="fr-FR" sz="1100"/>
                        <a:t>.NET 8 – ASP.NET Core Razor Pages</a:t>
                      </a:r>
                    </a:p>
                  </a:txBody>
                  <a:tcPr marL="58018" marR="58018" marT="29009" marB="29009" anchor="ctr">
                    <a:lnL>
                      <a:noFill/>
                    </a:lnL>
                    <a:lnR>
                      <a:noFill/>
                    </a:lnR>
                    <a:lnT>
                      <a:noFill/>
                    </a:lnT>
                    <a:lnB>
                      <a:noFill/>
                    </a:lnB>
                    <a:noFill/>
                  </a:tcPr>
                </a:tc>
                <a:tc>
                  <a:txBody>
                    <a:bodyPr/>
                    <a:lstStyle/>
                    <a:p>
                      <a:pPr>
                        <a:buNone/>
                      </a:pPr>
                      <a:r>
                        <a:rPr lang="es-ES" sz="1100"/>
                        <a:t>Framework principal para la lógica de negocio, sesiones y seguridad por roles.</a:t>
                      </a:r>
                    </a:p>
                  </a:txBody>
                  <a:tcPr marL="58018" marR="58018" marT="29009" marB="29009" anchor="ctr">
                    <a:lnL>
                      <a:noFill/>
                    </a:lnL>
                    <a:lnR>
                      <a:noFill/>
                    </a:lnR>
                    <a:lnT>
                      <a:noFill/>
                    </a:lnT>
                    <a:lnB>
                      <a:noFill/>
                    </a:lnB>
                    <a:noFill/>
                  </a:tcPr>
                </a:tc>
                <a:extLst>
                  <a:ext uri="{0D108BD9-81ED-4DB2-BD59-A6C34878D82A}">
                    <a16:rowId xmlns:a16="http://schemas.microsoft.com/office/drawing/2014/main" val="1187534678"/>
                  </a:ext>
                </a:extLst>
              </a:tr>
              <a:tr h="580178">
                <a:tc>
                  <a:txBody>
                    <a:bodyPr/>
                    <a:lstStyle/>
                    <a:p>
                      <a:pPr>
                        <a:buNone/>
                      </a:pPr>
                      <a:endParaRPr lang="es-CL" sz="1100"/>
                    </a:p>
                  </a:txBody>
                  <a:tcPr marL="58018" marR="58018" marT="29009" marB="29009" anchor="ctr">
                    <a:lnL>
                      <a:noFill/>
                    </a:lnL>
                    <a:lnR>
                      <a:noFill/>
                    </a:lnR>
                    <a:lnT>
                      <a:noFill/>
                    </a:lnT>
                    <a:lnB>
                      <a:noFill/>
                    </a:lnB>
                    <a:noFill/>
                  </a:tcPr>
                </a:tc>
                <a:tc>
                  <a:txBody>
                    <a:bodyPr/>
                    <a:lstStyle/>
                    <a:p>
                      <a:pPr>
                        <a:buNone/>
                      </a:pPr>
                      <a:r>
                        <a:rPr lang="es-CL" sz="1100"/>
                        <a:t>C#</a:t>
                      </a:r>
                    </a:p>
                  </a:txBody>
                  <a:tcPr marL="58018" marR="58018" marT="29009" marB="29009" anchor="ctr">
                    <a:lnL>
                      <a:noFill/>
                    </a:lnL>
                    <a:lnR>
                      <a:noFill/>
                    </a:lnR>
                    <a:lnT>
                      <a:noFill/>
                    </a:lnT>
                    <a:lnB>
                      <a:noFill/>
                    </a:lnB>
                    <a:noFill/>
                  </a:tcPr>
                </a:tc>
                <a:tc>
                  <a:txBody>
                    <a:bodyPr/>
                    <a:lstStyle/>
                    <a:p>
                      <a:pPr>
                        <a:buNone/>
                      </a:pPr>
                      <a:r>
                        <a:rPr lang="es-ES" sz="1100"/>
                        <a:t>Lenguaje de programación para servicios, validaciones y modelos de dominio.</a:t>
                      </a:r>
                    </a:p>
                  </a:txBody>
                  <a:tcPr marL="58018" marR="58018" marT="29009" marB="29009" anchor="ctr">
                    <a:lnL>
                      <a:noFill/>
                    </a:lnL>
                    <a:lnR>
                      <a:noFill/>
                    </a:lnR>
                    <a:lnT>
                      <a:noFill/>
                    </a:lnT>
                    <a:lnB>
                      <a:noFill/>
                    </a:lnB>
                    <a:noFill/>
                  </a:tcPr>
                </a:tc>
                <a:extLst>
                  <a:ext uri="{0D108BD9-81ED-4DB2-BD59-A6C34878D82A}">
                    <a16:rowId xmlns:a16="http://schemas.microsoft.com/office/drawing/2014/main" val="2758812518"/>
                  </a:ext>
                </a:extLst>
              </a:tr>
              <a:tr h="580178">
                <a:tc>
                  <a:txBody>
                    <a:bodyPr/>
                    <a:lstStyle/>
                    <a:p>
                      <a:pPr>
                        <a:buNone/>
                      </a:pPr>
                      <a:r>
                        <a:rPr lang="es-ES" sz="1100" b="1"/>
                        <a:t>Base de Datos y Acceso a Datos</a:t>
                      </a:r>
                      <a:endParaRPr lang="es-ES" sz="1100"/>
                    </a:p>
                  </a:txBody>
                  <a:tcPr marL="58018" marR="58018" marT="29009" marB="29009" anchor="ctr">
                    <a:lnL>
                      <a:noFill/>
                    </a:lnL>
                    <a:lnR>
                      <a:noFill/>
                    </a:lnR>
                    <a:lnT>
                      <a:noFill/>
                    </a:lnT>
                    <a:lnB>
                      <a:noFill/>
                    </a:lnB>
                    <a:noFill/>
                  </a:tcPr>
                </a:tc>
                <a:tc>
                  <a:txBody>
                    <a:bodyPr/>
                    <a:lstStyle/>
                    <a:p>
                      <a:pPr>
                        <a:buNone/>
                      </a:pPr>
                      <a:r>
                        <a:rPr lang="es-CL" sz="1100" dirty="0"/>
                        <a:t>SQL Server 2019/2022</a:t>
                      </a:r>
                    </a:p>
                  </a:txBody>
                  <a:tcPr marL="58018" marR="58018" marT="29009" marB="29009" anchor="ctr">
                    <a:lnL>
                      <a:noFill/>
                    </a:lnL>
                    <a:lnR>
                      <a:noFill/>
                    </a:lnR>
                    <a:lnT>
                      <a:noFill/>
                    </a:lnT>
                    <a:lnB>
                      <a:noFill/>
                    </a:lnB>
                    <a:noFill/>
                  </a:tcPr>
                </a:tc>
                <a:tc>
                  <a:txBody>
                    <a:bodyPr/>
                    <a:lstStyle/>
                    <a:p>
                      <a:pPr>
                        <a:buNone/>
                      </a:pPr>
                      <a:r>
                        <a:rPr lang="es-CL" sz="1100"/>
                        <a:t>Motor de base de datos relacional para usuarios, reservas, solicitudes, etc.</a:t>
                      </a:r>
                    </a:p>
                  </a:txBody>
                  <a:tcPr marL="58018" marR="58018" marT="29009" marB="29009" anchor="ctr">
                    <a:lnL>
                      <a:noFill/>
                    </a:lnL>
                    <a:lnR>
                      <a:noFill/>
                    </a:lnR>
                    <a:lnT>
                      <a:noFill/>
                    </a:lnT>
                    <a:lnB>
                      <a:noFill/>
                    </a:lnB>
                    <a:noFill/>
                  </a:tcPr>
                </a:tc>
                <a:extLst>
                  <a:ext uri="{0D108BD9-81ED-4DB2-BD59-A6C34878D82A}">
                    <a16:rowId xmlns:a16="http://schemas.microsoft.com/office/drawing/2014/main" val="3606416694"/>
                  </a:ext>
                </a:extLst>
              </a:tr>
              <a:tr h="406125">
                <a:tc>
                  <a:txBody>
                    <a:bodyPr/>
                    <a:lstStyle/>
                    <a:p>
                      <a:pPr>
                        <a:buNone/>
                      </a:pPr>
                      <a:endParaRPr lang="es-CL" sz="1100" dirty="0"/>
                    </a:p>
                  </a:txBody>
                  <a:tcPr marL="58018" marR="58018" marT="29009" marB="29009" anchor="ctr">
                    <a:lnL>
                      <a:noFill/>
                    </a:lnL>
                    <a:lnR>
                      <a:noFill/>
                    </a:lnR>
                    <a:lnT>
                      <a:noFill/>
                    </a:lnT>
                    <a:lnB>
                      <a:noFill/>
                    </a:lnB>
                    <a:noFill/>
                  </a:tcPr>
                </a:tc>
                <a:tc>
                  <a:txBody>
                    <a:bodyPr/>
                    <a:lstStyle/>
                    <a:p>
                      <a:pPr>
                        <a:buNone/>
                      </a:pPr>
                      <a:r>
                        <a:rPr lang="es-CL" sz="1100" dirty="0" err="1"/>
                        <a:t>Entity</a:t>
                      </a:r>
                      <a:r>
                        <a:rPr lang="es-CL" sz="1100" dirty="0"/>
                        <a:t> Framework Core 8</a:t>
                      </a:r>
                    </a:p>
                  </a:txBody>
                  <a:tcPr marL="58018" marR="58018" marT="29009" marB="29009" anchor="ctr">
                    <a:lnL>
                      <a:noFill/>
                    </a:lnL>
                    <a:lnR>
                      <a:noFill/>
                    </a:lnR>
                    <a:lnT>
                      <a:noFill/>
                    </a:lnT>
                    <a:lnB>
                      <a:noFill/>
                    </a:lnB>
                    <a:noFill/>
                  </a:tcPr>
                </a:tc>
                <a:tc>
                  <a:txBody>
                    <a:bodyPr/>
                    <a:lstStyle/>
                    <a:p>
                      <a:pPr>
                        <a:buNone/>
                      </a:pPr>
                      <a:r>
                        <a:rPr lang="es-ES" sz="1100"/>
                        <a:t>ORM para mapear clases a tablas y gestionar consultas y migraciones.</a:t>
                      </a:r>
                    </a:p>
                  </a:txBody>
                  <a:tcPr marL="58018" marR="58018" marT="29009" marB="29009" anchor="ctr">
                    <a:lnL>
                      <a:noFill/>
                    </a:lnL>
                    <a:lnR>
                      <a:noFill/>
                    </a:lnR>
                    <a:lnT>
                      <a:noFill/>
                    </a:lnT>
                    <a:lnB>
                      <a:noFill/>
                    </a:lnB>
                    <a:noFill/>
                  </a:tcPr>
                </a:tc>
                <a:extLst>
                  <a:ext uri="{0D108BD9-81ED-4DB2-BD59-A6C34878D82A}">
                    <a16:rowId xmlns:a16="http://schemas.microsoft.com/office/drawing/2014/main" val="1495252894"/>
                  </a:ext>
                </a:extLst>
              </a:tr>
              <a:tr h="406125">
                <a:tc>
                  <a:txBody>
                    <a:bodyPr/>
                    <a:lstStyle/>
                    <a:p>
                      <a:pPr>
                        <a:buNone/>
                      </a:pPr>
                      <a:r>
                        <a:rPr lang="es-CL" sz="1100" b="1"/>
                        <a:t>Frontend / Interfaz de Usuario</a:t>
                      </a:r>
                      <a:endParaRPr lang="es-CL" sz="1100"/>
                    </a:p>
                  </a:txBody>
                  <a:tcPr marL="58018" marR="58018" marT="29009" marB="29009" anchor="ctr">
                    <a:lnL>
                      <a:noFill/>
                    </a:lnL>
                    <a:lnR>
                      <a:noFill/>
                    </a:lnR>
                    <a:lnT>
                      <a:noFill/>
                    </a:lnT>
                    <a:lnB>
                      <a:noFill/>
                    </a:lnB>
                    <a:noFill/>
                  </a:tcPr>
                </a:tc>
                <a:tc>
                  <a:txBody>
                    <a:bodyPr/>
                    <a:lstStyle/>
                    <a:p>
                      <a:pPr>
                        <a:buNone/>
                      </a:pPr>
                      <a:r>
                        <a:rPr lang="es-CL" sz="1100"/>
                        <a:t>Razor Pages + HTML5 + CSS3</a:t>
                      </a:r>
                    </a:p>
                  </a:txBody>
                  <a:tcPr marL="58018" marR="58018" marT="29009" marB="29009" anchor="ctr">
                    <a:lnL>
                      <a:noFill/>
                    </a:lnL>
                    <a:lnR>
                      <a:noFill/>
                    </a:lnR>
                    <a:lnT>
                      <a:noFill/>
                    </a:lnT>
                    <a:lnB>
                      <a:noFill/>
                    </a:lnB>
                    <a:noFill/>
                  </a:tcPr>
                </a:tc>
                <a:tc>
                  <a:txBody>
                    <a:bodyPr/>
                    <a:lstStyle/>
                    <a:p>
                      <a:pPr>
                        <a:buNone/>
                      </a:pPr>
                      <a:r>
                        <a:rPr lang="es-ES" sz="1100"/>
                        <a:t>Construcción de vistas web limpias y mantenibles.</a:t>
                      </a:r>
                    </a:p>
                  </a:txBody>
                  <a:tcPr marL="58018" marR="58018" marT="29009" marB="29009" anchor="ctr">
                    <a:lnL>
                      <a:noFill/>
                    </a:lnL>
                    <a:lnR>
                      <a:noFill/>
                    </a:lnR>
                    <a:lnT>
                      <a:noFill/>
                    </a:lnT>
                    <a:lnB>
                      <a:noFill/>
                    </a:lnB>
                    <a:noFill/>
                  </a:tcPr>
                </a:tc>
                <a:extLst>
                  <a:ext uri="{0D108BD9-81ED-4DB2-BD59-A6C34878D82A}">
                    <a16:rowId xmlns:a16="http://schemas.microsoft.com/office/drawing/2014/main" val="3013807111"/>
                  </a:ext>
                </a:extLst>
              </a:tr>
              <a:tr h="580178">
                <a:tc>
                  <a:txBody>
                    <a:bodyPr/>
                    <a:lstStyle/>
                    <a:p>
                      <a:pPr>
                        <a:buNone/>
                      </a:pPr>
                      <a:endParaRPr lang="es-CL" sz="1100"/>
                    </a:p>
                  </a:txBody>
                  <a:tcPr marL="58018" marR="58018" marT="29009" marB="29009" anchor="ctr">
                    <a:lnL>
                      <a:noFill/>
                    </a:lnL>
                    <a:lnR>
                      <a:noFill/>
                    </a:lnR>
                    <a:lnT>
                      <a:noFill/>
                    </a:lnT>
                    <a:lnB>
                      <a:noFill/>
                    </a:lnB>
                    <a:noFill/>
                  </a:tcPr>
                </a:tc>
                <a:tc>
                  <a:txBody>
                    <a:bodyPr/>
                    <a:lstStyle/>
                    <a:p>
                      <a:pPr>
                        <a:buNone/>
                      </a:pPr>
                      <a:r>
                        <a:rPr lang="es-CL" sz="1100"/>
                        <a:t>Bootstrap 5 + Bootstrap Icons</a:t>
                      </a:r>
                    </a:p>
                  </a:txBody>
                  <a:tcPr marL="58018" marR="58018" marT="29009" marB="29009" anchor="ctr">
                    <a:lnL>
                      <a:noFill/>
                    </a:lnL>
                    <a:lnR>
                      <a:noFill/>
                    </a:lnR>
                    <a:lnT>
                      <a:noFill/>
                    </a:lnT>
                    <a:lnB>
                      <a:noFill/>
                    </a:lnB>
                    <a:noFill/>
                  </a:tcPr>
                </a:tc>
                <a:tc>
                  <a:txBody>
                    <a:bodyPr/>
                    <a:lstStyle/>
                    <a:p>
                      <a:pPr>
                        <a:buNone/>
                      </a:pPr>
                      <a:r>
                        <a:rPr lang="es-CL" sz="1100"/>
                        <a:t>Estilos responsive e iconos para una interfaz moderna y consistente.</a:t>
                      </a:r>
                    </a:p>
                  </a:txBody>
                  <a:tcPr marL="58018" marR="58018" marT="29009" marB="29009" anchor="ctr">
                    <a:lnL>
                      <a:noFill/>
                    </a:lnL>
                    <a:lnR>
                      <a:noFill/>
                    </a:lnR>
                    <a:lnT>
                      <a:noFill/>
                    </a:lnT>
                    <a:lnB>
                      <a:noFill/>
                    </a:lnB>
                    <a:noFill/>
                  </a:tcPr>
                </a:tc>
                <a:extLst>
                  <a:ext uri="{0D108BD9-81ED-4DB2-BD59-A6C34878D82A}">
                    <a16:rowId xmlns:a16="http://schemas.microsoft.com/office/drawing/2014/main" val="3328561636"/>
                  </a:ext>
                </a:extLst>
              </a:tr>
              <a:tr h="406125">
                <a:tc>
                  <a:txBody>
                    <a:bodyPr/>
                    <a:lstStyle/>
                    <a:p>
                      <a:pPr>
                        <a:buNone/>
                      </a:pPr>
                      <a:r>
                        <a:rPr lang="es-CL" sz="1100" b="1"/>
                        <a:t>Herramientas de Desarrollo</a:t>
                      </a:r>
                      <a:endParaRPr lang="es-CL" sz="1100"/>
                    </a:p>
                  </a:txBody>
                  <a:tcPr marL="58018" marR="58018" marT="29009" marB="29009" anchor="ctr">
                    <a:lnL>
                      <a:noFill/>
                    </a:lnL>
                    <a:lnR>
                      <a:noFill/>
                    </a:lnR>
                    <a:lnT>
                      <a:noFill/>
                    </a:lnT>
                    <a:lnB>
                      <a:noFill/>
                    </a:lnB>
                    <a:noFill/>
                  </a:tcPr>
                </a:tc>
                <a:tc>
                  <a:txBody>
                    <a:bodyPr/>
                    <a:lstStyle/>
                    <a:p>
                      <a:pPr>
                        <a:buNone/>
                      </a:pPr>
                      <a:r>
                        <a:rPr lang="es-CL" sz="1100"/>
                        <a:t>Visual Studio 2022</a:t>
                      </a:r>
                    </a:p>
                  </a:txBody>
                  <a:tcPr marL="58018" marR="58018" marT="29009" marB="29009" anchor="ctr">
                    <a:lnL>
                      <a:noFill/>
                    </a:lnL>
                    <a:lnR>
                      <a:noFill/>
                    </a:lnR>
                    <a:lnT>
                      <a:noFill/>
                    </a:lnT>
                    <a:lnB>
                      <a:noFill/>
                    </a:lnB>
                    <a:noFill/>
                  </a:tcPr>
                </a:tc>
                <a:tc>
                  <a:txBody>
                    <a:bodyPr/>
                    <a:lstStyle/>
                    <a:p>
                      <a:pPr>
                        <a:buNone/>
                      </a:pPr>
                      <a:r>
                        <a:rPr lang="es-ES" sz="1100"/>
                        <a:t>IDE principal para desarrollo, pruebas y depuración del proyecto.</a:t>
                      </a:r>
                    </a:p>
                  </a:txBody>
                  <a:tcPr marL="58018" marR="58018" marT="29009" marB="29009" anchor="ctr">
                    <a:lnL>
                      <a:noFill/>
                    </a:lnL>
                    <a:lnR>
                      <a:noFill/>
                    </a:lnR>
                    <a:lnT>
                      <a:noFill/>
                    </a:lnT>
                    <a:lnB>
                      <a:noFill/>
                    </a:lnB>
                    <a:noFill/>
                  </a:tcPr>
                </a:tc>
                <a:extLst>
                  <a:ext uri="{0D108BD9-81ED-4DB2-BD59-A6C34878D82A}">
                    <a16:rowId xmlns:a16="http://schemas.microsoft.com/office/drawing/2014/main" val="2462586559"/>
                  </a:ext>
                </a:extLst>
              </a:tr>
              <a:tr h="580178">
                <a:tc>
                  <a:txBody>
                    <a:bodyPr/>
                    <a:lstStyle/>
                    <a:p>
                      <a:pPr>
                        <a:buNone/>
                      </a:pPr>
                      <a:r>
                        <a:rPr lang="es-CL" sz="1100" b="1"/>
                        <a:t>Gestión de Código</a:t>
                      </a:r>
                      <a:endParaRPr lang="es-CL" sz="1100"/>
                    </a:p>
                  </a:txBody>
                  <a:tcPr marL="58018" marR="58018" marT="29009" marB="29009" anchor="ctr">
                    <a:lnL>
                      <a:noFill/>
                    </a:lnL>
                    <a:lnR>
                      <a:noFill/>
                    </a:lnR>
                    <a:lnT>
                      <a:noFill/>
                    </a:lnT>
                    <a:lnB>
                      <a:noFill/>
                    </a:lnB>
                    <a:noFill/>
                  </a:tcPr>
                </a:tc>
                <a:tc>
                  <a:txBody>
                    <a:bodyPr/>
                    <a:lstStyle/>
                    <a:p>
                      <a:pPr>
                        <a:buNone/>
                      </a:pPr>
                      <a:r>
                        <a:rPr lang="es-CL" sz="1100"/>
                        <a:t>Git + GitHub</a:t>
                      </a:r>
                    </a:p>
                  </a:txBody>
                  <a:tcPr marL="58018" marR="58018" marT="29009" marB="29009" anchor="ctr">
                    <a:lnL>
                      <a:noFill/>
                    </a:lnL>
                    <a:lnR>
                      <a:noFill/>
                    </a:lnR>
                    <a:lnT>
                      <a:noFill/>
                    </a:lnT>
                    <a:lnB>
                      <a:noFill/>
                    </a:lnB>
                    <a:noFill/>
                  </a:tcPr>
                </a:tc>
                <a:tc>
                  <a:txBody>
                    <a:bodyPr/>
                    <a:lstStyle/>
                    <a:p>
                      <a:pPr>
                        <a:buNone/>
                      </a:pPr>
                      <a:r>
                        <a:rPr lang="es-ES" sz="1100" dirty="0"/>
                        <a:t>Control de versiones y trabajo colaborativo con trazabilidad de cambios.</a:t>
                      </a:r>
                    </a:p>
                  </a:txBody>
                  <a:tcPr marL="58018" marR="58018" marT="29009" marB="29009" anchor="ctr">
                    <a:lnL>
                      <a:noFill/>
                    </a:lnL>
                    <a:lnR>
                      <a:noFill/>
                    </a:lnR>
                    <a:lnT>
                      <a:noFill/>
                    </a:lnT>
                    <a:lnB>
                      <a:noFill/>
                    </a:lnB>
                    <a:noFill/>
                  </a:tcPr>
                </a:tc>
                <a:extLst>
                  <a:ext uri="{0D108BD9-81ED-4DB2-BD59-A6C34878D82A}">
                    <a16:rowId xmlns:a16="http://schemas.microsoft.com/office/drawing/2014/main" val="2950355659"/>
                  </a:ext>
                </a:extLst>
              </a:tr>
            </a:tbl>
          </a:graphicData>
        </a:graphic>
      </p:graphicFrame>
    </p:spTree>
    <p:extLst>
      <p:ext uri="{BB962C8B-B14F-4D97-AF65-F5344CB8AC3E}">
        <p14:creationId xmlns:p14="http://schemas.microsoft.com/office/powerpoint/2010/main" val="34843486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p:cNvSpPr>
            <a:spLocks noGrp="1"/>
          </p:cNvSpPr>
          <p:nvPr>
            <p:ph type="title"/>
          </p:nvPr>
        </p:nvSpPr>
        <p:spPr>
          <a:xfrm>
            <a:off x="753794" y="702749"/>
            <a:ext cx="10515600" cy="1325563"/>
          </a:xfrm>
        </p:spPr>
        <p:txBody>
          <a:bodyPr/>
          <a:lstStyle/>
          <a:p>
            <a:r>
              <a:rPr lang="es-CL" dirty="0"/>
              <a:t>Planificación</a:t>
            </a:r>
          </a:p>
        </p:txBody>
      </p:sp>
      <p:pic>
        <p:nvPicPr>
          <p:cNvPr id="2" name="Imagen 1">
            <a:extLst>
              <a:ext uri="{FF2B5EF4-FFF2-40B4-BE49-F238E27FC236}">
                <a16:creationId xmlns:a16="http://schemas.microsoft.com/office/drawing/2014/main" id="{2C56A52D-A1DC-D31F-C8B9-2E9C993437BB}"/>
              </a:ext>
            </a:extLst>
          </p:cNvPr>
          <p:cNvPicPr>
            <a:picLocks noChangeAspect="1"/>
          </p:cNvPicPr>
          <p:nvPr/>
        </p:nvPicPr>
        <p:blipFill>
          <a:blip r:embed="rId2"/>
          <a:stretch>
            <a:fillRect/>
          </a:stretch>
        </p:blipFill>
        <p:spPr>
          <a:xfrm>
            <a:off x="1447578" y="1658015"/>
            <a:ext cx="8045127" cy="5093660"/>
          </a:xfrm>
          <a:prstGeom prst="rect">
            <a:avLst/>
          </a:prstGeom>
        </p:spPr>
      </p:pic>
    </p:spTree>
    <p:extLst>
      <p:ext uri="{BB962C8B-B14F-4D97-AF65-F5344CB8AC3E}">
        <p14:creationId xmlns:p14="http://schemas.microsoft.com/office/powerpoint/2010/main" val="37028876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p:cNvSpPr>
            <a:spLocks noGrp="1"/>
          </p:cNvSpPr>
          <p:nvPr>
            <p:ph type="title"/>
          </p:nvPr>
        </p:nvSpPr>
        <p:spPr>
          <a:xfrm>
            <a:off x="671244" y="827315"/>
            <a:ext cx="10515600" cy="863600"/>
          </a:xfrm>
        </p:spPr>
        <p:txBody>
          <a:bodyPr>
            <a:normAutofit/>
          </a:bodyPr>
          <a:lstStyle/>
          <a:p>
            <a:r>
              <a:rPr lang="es-CL" sz="3600" dirty="0"/>
              <a:t>Plan de Pruebas Desarrollo</a:t>
            </a:r>
          </a:p>
        </p:txBody>
      </p:sp>
      <p:sp>
        <p:nvSpPr>
          <p:cNvPr id="5" name="CuadroTexto 4"/>
          <p:cNvSpPr txBox="1"/>
          <p:nvPr/>
        </p:nvSpPr>
        <p:spPr>
          <a:xfrm>
            <a:off x="671244" y="1690915"/>
            <a:ext cx="9769063" cy="369332"/>
          </a:xfrm>
          <a:prstGeom prst="rect">
            <a:avLst/>
          </a:prstGeom>
          <a:noFill/>
        </p:spPr>
        <p:txBody>
          <a:bodyPr wrap="square" rtlCol="0">
            <a:spAutoFit/>
          </a:bodyPr>
          <a:lstStyle/>
          <a:p>
            <a:r>
              <a:rPr lang="es-CL" dirty="0"/>
              <a:t>Especificación de las Pruebas aplicadas al Sistema y Resultados Obtenidos </a:t>
            </a:r>
          </a:p>
        </p:txBody>
      </p:sp>
      <p:sp>
        <p:nvSpPr>
          <p:cNvPr id="2" name="Rectangle 4">
            <a:extLst>
              <a:ext uri="{FF2B5EF4-FFF2-40B4-BE49-F238E27FC236}">
                <a16:creationId xmlns:a16="http://schemas.microsoft.com/office/drawing/2014/main" id="{8C253C80-BACD-3687-F33A-1DA604A0CA55}"/>
              </a:ext>
            </a:extLst>
          </p:cNvPr>
          <p:cNvSpPr>
            <a:spLocks noChangeArrowheads="1"/>
          </p:cNvSpPr>
          <p:nvPr/>
        </p:nvSpPr>
        <p:spPr bwMode="auto">
          <a:xfrm>
            <a:off x="1087120" y="2331357"/>
            <a:ext cx="843280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CL" altLang="es-CL" sz="1600" b="0" i="0" u="none" strike="noStrike" cap="none" normalizeH="0" baseline="0" dirty="0">
                <a:ln>
                  <a:noFill/>
                </a:ln>
                <a:solidFill>
                  <a:srgbClr val="000000"/>
                </a:solidFill>
                <a:effectLst/>
                <a:latin typeface="Aptos" panose="020B0004020202020204" pitchFamily="34" charset="0"/>
                <a:ea typeface="Calibri" panose="020F0502020204030204" pitchFamily="34" charset="0"/>
                <a:cs typeface="Times New Roman" panose="02020603050405020304" pitchFamily="18" charset="0"/>
              </a:rPr>
              <a:t>Pruebas Funcionales</a:t>
            </a:r>
            <a:r>
              <a:rPr kumimoji="0" lang="es-CL" altLang="es-CL" sz="1600" b="0" i="0" u="none" strike="noStrike" cap="none" normalizeH="0" baseline="0" dirty="0">
                <a:ln>
                  <a:noFill/>
                </a:ln>
                <a:solidFill>
                  <a:schemeClr val="tx1"/>
                </a:solidFill>
                <a:effectLst/>
                <a:latin typeface="Aptos" panose="020B0004020202020204" pitchFamily="34" charset="0"/>
                <a:ea typeface="Aptos" panose="020B0004020202020204" pitchFamily="34" charset="0"/>
                <a:cs typeface="Times New Roman" panose="02020603050405020304" pitchFamily="18" charset="0"/>
              </a:rPr>
              <a:t> </a:t>
            </a:r>
            <a:endParaRPr kumimoji="0" lang="es-CL" altLang="es-CL"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s-CL" altLang="es-CL" sz="1600" b="0" i="0" u="none" strike="noStrike" cap="none" normalizeH="0" baseline="0" dirty="0">
                <a:ln>
                  <a:noFill/>
                </a:ln>
                <a:solidFill>
                  <a:schemeClr val="tx1"/>
                </a:solidFill>
                <a:effectLst/>
                <a:latin typeface="Aptos" panose="020B0004020202020204" pitchFamily="34" charset="0"/>
                <a:ea typeface="Aptos" panose="020B0004020202020204" pitchFamily="34" charset="0"/>
                <a:cs typeface="Times New Roman" panose="02020603050405020304" pitchFamily="18" charset="0"/>
              </a:rPr>
              <a:t>Verificar flujos completos de solicitud aprobada</a:t>
            </a:r>
            <a:endParaRPr kumimoji="0" lang="es-CL" altLang="es-CL"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s-CL" altLang="es-CL" sz="1600" b="0" i="0" u="none" strike="noStrike" cap="none" normalizeH="0" baseline="0" dirty="0">
              <a:ln>
                <a:noFill/>
              </a:ln>
              <a:solidFill>
                <a:schemeClr val="tx1"/>
              </a:solidFill>
              <a:effectLst/>
              <a:latin typeface="Arial" panose="020B0604020202020204" pitchFamily="34" charset="0"/>
            </a:endParaRPr>
          </a:p>
        </p:txBody>
      </p:sp>
      <p:sp>
        <p:nvSpPr>
          <p:cNvPr id="3" name="Rectangle 5">
            <a:extLst>
              <a:ext uri="{FF2B5EF4-FFF2-40B4-BE49-F238E27FC236}">
                <a16:creationId xmlns:a16="http://schemas.microsoft.com/office/drawing/2014/main" id="{A4EBD192-F4BA-4DB0-E521-08FBF5BC25B8}"/>
              </a:ext>
            </a:extLst>
          </p:cNvPr>
          <p:cNvSpPr>
            <a:spLocks noChangeArrowheads="1"/>
          </p:cNvSpPr>
          <p:nvPr/>
        </p:nvSpPr>
        <p:spPr bwMode="auto">
          <a:xfrm>
            <a:off x="0" y="2111375"/>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CL"/>
          </a:p>
        </p:txBody>
      </p:sp>
      <p:pic>
        <p:nvPicPr>
          <p:cNvPr id="10" name="Imagen 9" descr="Interfaz de usuario gráfica, Aplicación, Word&#10;&#10;El contenido generado por IA puede ser incorrecto.">
            <a:extLst>
              <a:ext uri="{FF2B5EF4-FFF2-40B4-BE49-F238E27FC236}">
                <a16:creationId xmlns:a16="http://schemas.microsoft.com/office/drawing/2014/main" id="{6A97916C-9F01-A0D8-3A96-83F56C1D2F98}"/>
              </a:ext>
            </a:extLst>
          </p:cNvPr>
          <p:cNvPicPr>
            <a:picLocks noChangeAspect="1"/>
          </p:cNvPicPr>
          <p:nvPr/>
        </p:nvPicPr>
        <p:blipFill>
          <a:blip r:embed="rId2"/>
          <a:srcRect l="947" r="947"/>
          <a:stretch>
            <a:fillRect/>
          </a:stretch>
        </p:blipFill>
        <p:spPr>
          <a:xfrm>
            <a:off x="559483" y="3382336"/>
            <a:ext cx="10627361" cy="3180612"/>
          </a:xfrm>
          <a:prstGeom prst="rect">
            <a:avLst/>
          </a:prstGeom>
        </p:spPr>
      </p:pic>
    </p:spTree>
    <p:extLst>
      <p:ext uri="{BB962C8B-B14F-4D97-AF65-F5344CB8AC3E}">
        <p14:creationId xmlns:p14="http://schemas.microsoft.com/office/powerpoint/2010/main" val="5199546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DCDEEF-97C1-5ADF-186B-C09D5DBF8AA2}"/>
            </a:ext>
          </a:extLst>
        </p:cNvPr>
        <p:cNvGrpSpPr/>
        <p:nvPr/>
      </p:nvGrpSpPr>
      <p:grpSpPr>
        <a:xfrm>
          <a:off x="0" y="0"/>
          <a:ext cx="0" cy="0"/>
          <a:chOff x="0" y="0"/>
          <a:chExt cx="0" cy="0"/>
        </a:xfrm>
      </p:grpSpPr>
      <p:sp>
        <p:nvSpPr>
          <p:cNvPr id="4" name="Título 3">
            <a:extLst>
              <a:ext uri="{FF2B5EF4-FFF2-40B4-BE49-F238E27FC236}">
                <a16:creationId xmlns:a16="http://schemas.microsoft.com/office/drawing/2014/main" id="{750873A2-DC4D-2EE7-20D5-AED8C663865E}"/>
              </a:ext>
            </a:extLst>
          </p:cNvPr>
          <p:cNvSpPr>
            <a:spLocks noGrp="1"/>
          </p:cNvSpPr>
          <p:nvPr>
            <p:ph type="title"/>
          </p:nvPr>
        </p:nvSpPr>
        <p:spPr>
          <a:xfrm>
            <a:off x="671244" y="827315"/>
            <a:ext cx="10515600" cy="863600"/>
          </a:xfrm>
        </p:spPr>
        <p:txBody>
          <a:bodyPr>
            <a:normAutofit/>
          </a:bodyPr>
          <a:lstStyle/>
          <a:p>
            <a:r>
              <a:rPr lang="es-CL" sz="3600" dirty="0"/>
              <a:t>Plan de Pruebas Desarrollo</a:t>
            </a:r>
          </a:p>
        </p:txBody>
      </p:sp>
      <p:sp>
        <p:nvSpPr>
          <p:cNvPr id="5" name="CuadroTexto 4">
            <a:extLst>
              <a:ext uri="{FF2B5EF4-FFF2-40B4-BE49-F238E27FC236}">
                <a16:creationId xmlns:a16="http://schemas.microsoft.com/office/drawing/2014/main" id="{D5DA5253-FE21-A2AD-1494-B23227232E54}"/>
              </a:ext>
            </a:extLst>
          </p:cNvPr>
          <p:cNvSpPr txBox="1"/>
          <p:nvPr/>
        </p:nvSpPr>
        <p:spPr>
          <a:xfrm>
            <a:off x="671244" y="1690915"/>
            <a:ext cx="9769063" cy="369332"/>
          </a:xfrm>
          <a:prstGeom prst="rect">
            <a:avLst/>
          </a:prstGeom>
          <a:noFill/>
        </p:spPr>
        <p:txBody>
          <a:bodyPr wrap="square" rtlCol="0">
            <a:spAutoFit/>
          </a:bodyPr>
          <a:lstStyle/>
          <a:p>
            <a:r>
              <a:rPr lang="es-CL" dirty="0"/>
              <a:t>Especificación de las Pruebas aplicadas al Sistema y Resultados Obtenidos </a:t>
            </a:r>
          </a:p>
        </p:txBody>
      </p:sp>
      <p:sp>
        <p:nvSpPr>
          <p:cNvPr id="2" name="Rectangle 4">
            <a:extLst>
              <a:ext uri="{FF2B5EF4-FFF2-40B4-BE49-F238E27FC236}">
                <a16:creationId xmlns:a16="http://schemas.microsoft.com/office/drawing/2014/main" id="{E6A74792-AA61-BA49-474C-8340DB10CCA0}"/>
              </a:ext>
            </a:extLst>
          </p:cNvPr>
          <p:cNvSpPr>
            <a:spLocks noChangeArrowheads="1"/>
          </p:cNvSpPr>
          <p:nvPr/>
        </p:nvSpPr>
        <p:spPr bwMode="auto">
          <a:xfrm>
            <a:off x="1087120" y="2331357"/>
            <a:ext cx="843280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CL" altLang="es-CL" sz="1600" b="0" i="0" u="none" strike="noStrike" cap="none" normalizeH="0" baseline="0" dirty="0">
                <a:ln>
                  <a:noFill/>
                </a:ln>
                <a:solidFill>
                  <a:srgbClr val="000000"/>
                </a:solidFill>
                <a:effectLst/>
                <a:latin typeface="Aptos" panose="020B0004020202020204" pitchFamily="34" charset="0"/>
                <a:ea typeface="Calibri" panose="020F0502020204030204" pitchFamily="34" charset="0"/>
                <a:cs typeface="Times New Roman" panose="02020603050405020304" pitchFamily="18" charset="0"/>
              </a:rPr>
              <a:t>Pruebas Funcionales</a:t>
            </a:r>
            <a:r>
              <a:rPr kumimoji="0" lang="es-CL" altLang="es-CL" sz="1600" b="0" i="0" u="none" strike="noStrike" cap="none" normalizeH="0" baseline="0" dirty="0">
                <a:ln>
                  <a:noFill/>
                </a:ln>
                <a:solidFill>
                  <a:schemeClr val="tx1"/>
                </a:solidFill>
                <a:effectLst/>
                <a:latin typeface="Aptos" panose="020B0004020202020204" pitchFamily="34" charset="0"/>
                <a:ea typeface="Aptos" panose="020B0004020202020204" pitchFamily="34" charset="0"/>
                <a:cs typeface="Times New Roman" panose="02020603050405020304" pitchFamily="18" charset="0"/>
              </a:rPr>
              <a:t> </a:t>
            </a:r>
            <a:endParaRPr kumimoji="0" lang="es-CL" altLang="es-CL"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s-CL" altLang="es-CL" sz="1600" b="0" i="0" u="none" strike="noStrike" cap="none" normalizeH="0" baseline="0" dirty="0">
                <a:ln>
                  <a:noFill/>
                </a:ln>
                <a:solidFill>
                  <a:schemeClr val="tx1"/>
                </a:solidFill>
                <a:effectLst/>
                <a:latin typeface="Aptos" panose="020B0004020202020204" pitchFamily="34" charset="0"/>
                <a:ea typeface="Aptos" panose="020B0004020202020204" pitchFamily="34" charset="0"/>
                <a:cs typeface="Times New Roman" panose="02020603050405020304" pitchFamily="18" charset="0"/>
              </a:rPr>
              <a:t>Verificar flujos completos de solicitud aprobada</a:t>
            </a:r>
            <a:endParaRPr kumimoji="0" lang="es-CL" altLang="es-CL"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s-CL" altLang="es-CL" sz="1600" b="0" i="0" u="none" strike="noStrike" cap="none" normalizeH="0" baseline="0" dirty="0">
              <a:ln>
                <a:noFill/>
              </a:ln>
              <a:solidFill>
                <a:schemeClr val="tx1"/>
              </a:solidFill>
              <a:effectLst/>
              <a:latin typeface="Arial" panose="020B0604020202020204" pitchFamily="34" charset="0"/>
            </a:endParaRPr>
          </a:p>
        </p:txBody>
      </p:sp>
      <p:sp>
        <p:nvSpPr>
          <p:cNvPr id="3" name="Rectangle 5">
            <a:extLst>
              <a:ext uri="{FF2B5EF4-FFF2-40B4-BE49-F238E27FC236}">
                <a16:creationId xmlns:a16="http://schemas.microsoft.com/office/drawing/2014/main" id="{3AAD5354-61E4-434A-EC86-2A679316A64B}"/>
              </a:ext>
            </a:extLst>
          </p:cNvPr>
          <p:cNvSpPr>
            <a:spLocks noChangeArrowheads="1"/>
          </p:cNvSpPr>
          <p:nvPr/>
        </p:nvSpPr>
        <p:spPr bwMode="auto">
          <a:xfrm>
            <a:off x="0" y="2111375"/>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CL"/>
          </a:p>
        </p:txBody>
      </p:sp>
      <p:pic>
        <p:nvPicPr>
          <p:cNvPr id="6" name="Imagen 5" descr="Interfaz de usuario gráfica, Aplicación, Word&#10;&#10;El contenido generado por IA puede ser incorrecto.">
            <a:extLst>
              <a:ext uri="{FF2B5EF4-FFF2-40B4-BE49-F238E27FC236}">
                <a16:creationId xmlns:a16="http://schemas.microsoft.com/office/drawing/2014/main" id="{8EB30BB6-16AA-3C50-39CB-D1B1DC7B5D6C}"/>
              </a:ext>
            </a:extLst>
          </p:cNvPr>
          <p:cNvPicPr>
            <a:picLocks noChangeAspect="1"/>
          </p:cNvPicPr>
          <p:nvPr/>
        </p:nvPicPr>
        <p:blipFill>
          <a:blip r:embed="rId2"/>
          <a:stretch>
            <a:fillRect/>
          </a:stretch>
        </p:blipFill>
        <p:spPr>
          <a:xfrm>
            <a:off x="671244" y="3429000"/>
            <a:ext cx="10413523" cy="3012828"/>
          </a:xfrm>
          <a:prstGeom prst="rect">
            <a:avLst/>
          </a:prstGeom>
        </p:spPr>
      </p:pic>
    </p:spTree>
    <p:extLst>
      <p:ext uri="{BB962C8B-B14F-4D97-AF65-F5344CB8AC3E}">
        <p14:creationId xmlns:p14="http://schemas.microsoft.com/office/powerpoint/2010/main" val="7691963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2B6430-1BD7-3BDD-FFE3-588EEEF5F559}"/>
            </a:ext>
          </a:extLst>
        </p:cNvPr>
        <p:cNvGrpSpPr/>
        <p:nvPr/>
      </p:nvGrpSpPr>
      <p:grpSpPr>
        <a:xfrm>
          <a:off x="0" y="0"/>
          <a:ext cx="0" cy="0"/>
          <a:chOff x="0" y="0"/>
          <a:chExt cx="0" cy="0"/>
        </a:xfrm>
      </p:grpSpPr>
      <p:sp>
        <p:nvSpPr>
          <p:cNvPr id="4" name="Título 3">
            <a:extLst>
              <a:ext uri="{FF2B5EF4-FFF2-40B4-BE49-F238E27FC236}">
                <a16:creationId xmlns:a16="http://schemas.microsoft.com/office/drawing/2014/main" id="{79187EF5-DA01-2C4D-38C5-C7BD95B68AC3}"/>
              </a:ext>
            </a:extLst>
          </p:cNvPr>
          <p:cNvSpPr>
            <a:spLocks noGrp="1"/>
          </p:cNvSpPr>
          <p:nvPr>
            <p:ph type="title"/>
          </p:nvPr>
        </p:nvSpPr>
        <p:spPr>
          <a:xfrm>
            <a:off x="671244" y="827315"/>
            <a:ext cx="10515600" cy="863600"/>
          </a:xfrm>
        </p:spPr>
        <p:txBody>
          <a:bodyPr>
            <a:normAutofit/>
          </a:bodyPr>
          <a:lstStyle/>
          <a:p>
            <a:r>
              <a:rPr lang="es-CL" sz="3600" dirty="0"/>
              <a:t>Plan de Pruebas Desarrollo</a:t>
            </a:r>
          </a:p>
        </p:txBody>
      </p:sp>
      <p:sp>
        <p:nvSpPr>
          <p:cNvPr id="5" name="CuadroTexto 4">
            <a:extLst>
              <a:ext uri="{FF2B5EF4-FFF2-40B4-BE49-F238E27FC236}">
                <a16:creationId xmlns:a16="http://schemas.microsoft.com/office/drawing/2014/main" id="{AF432F38-415F-B993-1D42-AF394A21036F}"/>
              </a:ext>
            </a:extLst>
          </p:cNvPr>
          <p:cNvSpPr txBox="1"/>
          <p:nvPr/>
        </p:nvSpPr>
        <p:spPr>
          <a:xfrm>
            <a:off x="671244" y="1690915"/>
            <a:ext cx="9769063" cy="369332"/>
          </a:xfrm>
          <a:prstGeom prst="rect">
            <a:avLst/>
          </a:prstGeom>
          <a:noFill/>
        </p:spPr>
        <p:txBody>
          <a:bodyPr wrap="square" rtlCol="0">
            <a:spAutoFit/>
          </a:bodyPr>
          <a:lstStyle/>
          <a:p>
            <a:r>
              <a:rPr lang="es-CL" dirty="0"/>
              <a:t>Especificación de las Pruebas aplicadas al Sistema y Resultados Obtenidos </a:t>
            </a:r>
          </a:p>
        </p:txBody>
      </p:sp>
      <p:sp>
        <p:nvSpPr>
          <p:cNvPr id="2" name="Rectangle 4">
            <a:extLst>
              <a:ext uri="{FF2B5EF4-FFF2-40B4-BE49-F238E27FC236}">
                <a16:creationId xmlns:a16="http://schemas.microsoft.com/office/drawing/2014/main" id="{4D545F3C-9078-1C26-30FA-4EF9B1C85A91}"/>
              </a:ext>
            </a:extLst>
          </p:cNvPr>
          <p:cNvSpPr>
            <a:spLocks noChangeArrowheads="1"/>
          </p:cNvSpPr>
          <p:nvPr/>
        </p:nvSpPr>
        <p:spPr bwMode="auto">
          <a:xfrm>
            <a:off x="1087120" y="2331357"/>
            <a:ext cx="843280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CL" altLang="es-CL" sz="1600" b="0" i="0" u="none" strike="noStrike" cap="none" normalizeH="0" baseline="0" dirty="0">
                <a:ln>
                  <a:noFill/>
                </a:ln>
                <a:solidFill>
                  <a:srgbClr val="000000"/>
                </a:solidFill>
                <a:effectLst/>
                <a:latin typeface="Aptos" panose="020B0004020202020204" pitchFamily="34" charset="0"/>
                <a:ea typeface="Calibri" panose="020F0502020204030204" pitchFamily="34" charset="0"/>
                <a:cs typeface="Times New Roman" panose="02020603050405020304" pitchFamily="18" charset="0"/>
              </a:rPr>
              <a:t>Pruebas Funcionales</a:t>
            </a:r>
            <a:r>
              <a:rPr kumimoji="0" lang="es-CL" altLang="es-CL" sz="1600" b="0" i="0" u="none" strike="noStrike" cap="none" normalizeH="0" baseline="0" dirty="0">
                <a:ln>
                  <a:noFill/>
                </a:ln>
                <a:solidFill>
                  <a:schemeClr val="tx1"/>
                </a:solidFill>
                <a:effectLst/>
                <a:latin typeface="Aptos" panose="020B0004020202020204" pitchFamily="34" charset="0"/>
                <a:ea typeface="Aptos" panose="020B0004020202020204" pitchFamily="34" charset="0"/>
                <a:cs typeface="Times New Roman" panose="02020603050405020304" pitchFamily="18" charset="0"/>
              </a:rPr>
              <a:t> </a:t>
            </a:r>
            <a:endParaRPr kumimoji="0" lang="es-CL" altLang="es-CL"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s-CL" altLang="es-CL" sz="1600" b="0" i="0" u="none" strike="noStrike" cap="none" normalizeH="0" baseline="0" dirty="0">
                <a:ln>
                  <a:noFill/>
                </a:ln>
                <a:solidFill>
                  <a:schemeClr val="tx1"/>
                </a:solidFill>
                <a:effectLst/>
                <a:latin typeface="Aptos" panose="020B0004020202020204" pitchFamily="34" charset="0"/>
                <a:ea typeface="Aptos" panose="020B0004020202020204" pitchFamily="34" charset="0"/>
                <a:cs typeface="Times New Roman" panose="02020603050405020304" pitchFamily="18" charset="0"/>
              </a:rPr>
              <a:t>Verificar flujos completos de solicitud aprobada</a:t>
            </a:r>
            <a:endParaRPr kumimoji="0" lang="es-CL" altLang="es-CL"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s-CL" altLang="es-CL" sz="1600" b="0" i="0" u="none" strike="noStrike" cap="none" normalizeH="0" baseline="0" dirty="0">
              <a:ln>
                <a:noFill/>
              </a:ln>
              <a:solidFill>
                <a:schemeClr val="tx1"/>
              </a:solidFill>
              <a:effectLst/>
              <a:latin typeface="Arial" panose="020B0604020202020204" pitchFamily="34" charset="0"/>
            </a:endParaRPr>
          </a:p>
        </p:txBody>
      </p:sp>
      <p:sp>
        <p:nvSpPr>
          <p:cNvPr id="3" name="Rectangle 5">
            <a:extLst>
              <a:ext uri="{FF2B5EF4-FFF2-40B4-BE49-F238E27FC236}">
                <a16:creationId xmlns:a16="http://schemas.microsoft.com/office/drawing/2014/main" id="{1EFA55EC-B8A7-986B-C31C-C2C55458801B}"/>
              </a:ext>
            </a:extLst>
          </p:cNvPr>
          <p:cNvSpPr>
            <a:spLocks noChangeArrowheads="1"/>
          </p:cNvSpPr>
          <p:nvPr/>
        </p:nvSpPr>
        <p:spPr bwMode="auto">
          <a:xfrm>
            <a:off x="0" y="2111375"/>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CL"/>
          </a:p>
        </p:txBody>
      </p:sp>
      <p:pic>
        <p:nvPicPr>
          <p:cNvPr id="7" name="Imagen 6" descr="Interfaz de usuario gráfica, Aplicación&#10;&#10;El contenido generado por IA puede ser incorrecto.">
            <a:extLst>
              <a:ext uri="{FF2B5EF4-FFF2-40B4-BE49-F238E27FC236}">
                <a16:creationId xmlns:a16="http://schemas.microsoft.com/office/drawing/2014/main" id="{627E433A-2A5F-9C50-1F09-5B6B7FCD98F1}"/>
              </a:ext>
            </a:extLst>
          </p:cNvPr>
          <p:cNvPicPr>
            <a:picLocks noChangeAspect="1"/>
          </p:cNvPicPr>
          <p:nvPr/>
        </p:nvPicPr>
        <p:blipFill>
          <a:blip r:embed="rId2"/>
          <a:srcRect l="606" t="2016"/>
          <a:stretch>
            <a:fillRect/>
          </a:stretch>
        </p:blipFill>
        <p:spPr>
          <a:xfrm>
            <a:off x="553719" y="3749040"/>
            <a:ext cx="11152565" cy="2594956"/>
          </a:xfrm>
          <a:prstGeom prst="rect">
            <a:avLst/>
          </a:prstGeom>
        </p:spPr>
      </p:pic>
    </p:spTree>
    <p:extLst>
      <p:ext uri="{BB962C8B-B14F-4D97-AF65-F5344CB8AC3E}">
        <p14:creationId xmlns:p14="http://schemas.microsoft.com/office/powerpoint/2010/main" val="39845394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B572FA-73AD-2078-3513-16973F07E372}"/>
            </a:ext>
          </a:extLst>
        </p:cNvPr>
        <p:cNvGrpSpPr/>
        <p:nvPr/>
      </p:nvGrpSpPr>
      <p:grpSpPr>
        <a:xfrm>
          <a:off x="0" y="0"/>
          <a:ext cx="0" cy="0"/>
          <a:chOff x="0" y="0"/>
          <a:chExt cx="0" cy="0"/>
        </a:xfrm>
      </p:grpSpPr>
      <p:sp>
        <p:nvSpPr>
          <p:cNvPr id="4" name="Título 3">
            <a:extLst>
              <a:ext uri="{FF2B5EF4-FFF2-40B4-BE49-F238E27FC236}">
                <a16:creationId xmlns:a16="http://schemas.microsoft.com/office/drawing/2014/main" id="{C8DF8570-1C6A-E692-19F0-9E9B31789C5C}"/>
              </a:ext>
            </a:extLst>
          </p:cNvPr>
          <p:cNvSpPr>
            <a:spLocks noGrp="1"/>
          </p:cNvSpPr>
          <p:nvPr>
            <p:ph type="title"/>
          </p:nvPr>
        </p:nvSpPr>
        <p:spPr>
          <a:xfrm>
            <a:off x="671244" y="827315"/>
            <a:ext cx="10515600" cy="863600"/>
          </a:xfrm>
        </p:spPr>
        <p:txBody>
          <a:bodyPr>
            <a:normAutofit/>
          </a:bodyPr>
          <a:lstStyle/>
          <a:p>
            <a:r>
              <a:rPr lang="es-CL" sz="3600" dirty="0"/>
              <a:t>Plan de Pruebas Desarrollo</a:t>
            </a:r>
          </a:p>
        </p:txBody>
      </p:sp>
      <p:sp>
        <p:nvSpPr>
          <p:cNvPr id="5" name="CuadroTexto 4">
            <a:extLst>
              <a:ext uri="{FF2B5EF4-FFF2-40B4-BE49-F238E27FC236}">
                <a16:creationId xmlns:a16="http://schemas.microsoft.com/office/drawing/2014/main" id="{2F13EFF2-587D-B973-C8E4-4F9B09CF344C}"/>
              </a:ext>
            </a:extLst>
          </p:cNvPr>
          <p:cNvSpPr txBox="1"/>
          <p:nvPr/>
        </p:nvSpPr>
        <p:spPr>
          <a:xfrm>
            <a:off x="671244" y="1690915"/>
            <a:ext cx="9769063" cy="369332"/>
          </a:xfrm>
          <a:prstGeom prst="rect">
            <a:avLst/>
          </a:prstGeom>
          <a:noFill/>
        </p:spPr>
        <p:txBody>
          <a:bodyPr wrap="square" rtlCol="0">
            <a:spAutoFit/>
          </a:bodyPr>
          <a:lstStyle/>
          <a:p>
            <a:r>
              <a:rPr lang="es-CL" dirty="0"/>
              <a:t>Especificación de las Pruebas aplicadas al Sistema y Resultados Obtenidos </a:t>
            </a:r>
          </a:p>
        </p:txBody>
      </p:sp>
      <p:sp>
        <p:nvSpPr>
          <p:cNvPr id="2" name="Rectangle 4">
            <a:extLst>
              <a:ext uri="{FF2B5EF4-FFF2-40B4-BE49-F238E27FC236}">
                <a16:creationId xmlns:a16="http://schemas.microsoft.com/office/drawing/2014/main" id="{AC1C7137-B5E0-EE6E-9F8C-411084622CBF}"/>
              </a:ext>
            </a:extLst>
          </p:cNvPr>
          <p:cNvSpPr>
            <a:spLocks noChangeArrowheads="1"/>
          </p:cNvSpPr>
          <p:nvPr/>
        </p:nvSpPr>
        <p:spPr bwMode="auto">
          <a:xfrm>
            <a:off x="1087120" y="2439079"/>
            <a:ext cx="8432800" cy="6155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CL" altLang="es-CL" sz="1600" b="0" i="0" u="none" strike="noStrike" cap="none" normalizeH="0" baseline="0" dirty="0">
                <a:ln>
                  <a:noFill/>
                </a:ln>
                <a:solidFill>
                  <a:srgbClr val="000000"/>
                </a:solidFill>
                <a:effectLst/>
                <a:latin typeface="Aptos" panose="020B0004020202020204" pitchFamily="34" charset="0"/>
                <a:ea typeface="Calibri" panose="020F0502020204030204" pitchFamily="34" charset="0"/>
                <a:cs typeface="Times New Roman" panose="02020603050405020304" pitchFamily="18" charset="0"/>
              </a:rPr>
              <a:t>Pruebas Funcionales</a:t>
            </a:r>
            <a:r>
              <a:rPr kumimoji="0" lang="es-CL" altLang="es-CL" sz="1600" b="0" i="0" u="none" strike="noStrike" cap="none" normalizeH="0" baseline="0" dirty="0">
                <a:ln>
                  <a:noFill/>
                </a:ln>
                <a:solidFill>
                  <a:schemeClr val="tx1"/>
                </a:solidFill>
                <a:effectLst/>
                <a:latin typeface="Aptos" panose="020B0004020202020204" pitchFamily="34" charset="0"/>
                <a:ea typeface="Aptos" panose="020B0004020202020204" pitchFamily="34" charset="0"/>
                <a:cs typeface="Times New Roman" panose="02020603050405020304" pitchFamily="18" charset="0"/>
              </a:rPr>
              <a:t> </a:t>
            </a:r>
            <a:endParaRPr kumimoji="0" lang="es-CL" altLang="es-CL" sz="1600" b="0" i="0" u="none" strike="noStrike" cap="none" normalizeH="0" baseline="0" dirty="0">
              <a:ln>
                <a:noFill/>
              </a:ln>
              <a:solidFill>
                <a:schemeClr val="tx1"/>
              </a:solidFill>
              <a:effectLst/>
            </a:endParaRPr>
          </a:p>
          <a:p>
            <a:r>
              <a:rPr lang="es-CL" dirty="0"/>
              <a:t>Verificar flujos completos de solicitud rechazada</a:t>
            </a:r>
          </a:p>
        </p:txBody>
      </p:sp>
      <p:sp>
        <p:nvSpPr>
          <p:cNvPr id="3" name="Rectangle 5">
            <a:extLst>
              <a:ext uri="{FF2B5EF4-FFF2-40B4-BE49-F238E27FC236}">
                <a16:creationId xmlns:a16="http://schemas.microsoft.com/office/drawing/2014/main" id="{B41F4DC3-12A4-2D17-3C79-A4723EF1C6FC}"/>
              </a:ext>
            </a:extLst>
          </p:cNvPr>
          <p:cNvSpPr>
            <a:spLocks noChangeArrowheads="1"/>
          </p:cNvSpPr>
          <p:nvPr/>
        </p:nvSpPr>
        <p:spPr bwMode="auto">
          <a:xfrm>
            <a:off x="0" y="2111375"/>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CL"/>
          </a:p>
        </p:txBody>
      </p:sp>
      <p:pic>
        <p:nvPicPr>
          <p:cNvPr id="6" name="Imagen 5" descr="Interfaz de usuario gráfica, Aplicación&#10;&#10;El contenido generado por IA puede ser incorrecto.">
            <a:extLst>
              <a:ext uri="{FF2B5EF4-FFF2-40B4-BE49-F238E27FC236}">
                <a16:creationId xmlns:a16="http://schemas.microsoft.com/office/drawing/2014/main" id="{FB7C875E-569C-4A7A-B23F-184966C51A0B}"/>
              </a:ext>
            </a:extLst>
          </p:cNvPr>
          <p:cNvPicPr>
            <a:picLocks noChangeAspect="1"/>
          </p:cNvPicPr>
          <p:nvPr/>
        </p:nvPicPr>
        <p:blipFill>
          <a:blip r:embed="rId2"/>
          <a:srcRect t="1441"/>
          <a:stretch>
            <a:fillRect/>
          </a:stretch>
        </p:blipFill>
        <p:spPr>
          <a:xfrm>
            <a:off x="890233" y="3429000"/>
            <a:ext cx="10077621" cy="3191675"/>
          </a:xfrm>
          <a:prstGeom prst="rect">
            <a:avLst/>
          </a:prstGeom>
        </p:spPr>
      </p:pic>
    </p:spTree>
    <p:extLst>
      <p:ext uri="{BB962C8B-B14F-4D97-AF65-F5344CB8AC3E}">
        <p14:creationId xmlns:p14="http://schemas.microsoft.com/office/powerpoint/2010/main" val="6262619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928D94-988D-0093-B04F-571B6BD25BF5}"/>
            </a:ext>
          </a:extLst>
        </p:cNvPr>
        <p:cNvGrpSpPr/>
        <p:nvPr/>
      </p:nvGrpSpPr>
      <p:grpSpPr>
        <a:xfrm>
          <a:off x="0" y="0"/>
          <a:ext cx="0" cy="0"/>
          <a:chOff x="0" y="0"/>
          <a:chExt cx="0" cy="0"/>
        </a:xfrm>
      </p:grpSpPr>
      <p:sp>
        <p:nvSpPr>
          <p:cNvPr id="4" name="Título 3">
            <a:extLst>
              <a:ext uri="{FF2B5EF4-FFF2-40B4-BE49-F238E27FC236}">
                <a16:creationId xmlns:a16="http://schemas.microsoft.com/office/drawing/2014/main" id="{F7D7C1F3-040F-99BC-1BDE-9E6C6857082F}"/>
              </a:ext>
            </a:extLst>
          </p:cNvPr>
          <p:cNvSpPr>
            <a:spLocks noGrp="1"/>
          </p:cNvSpPr>
          <p:nvPr>
            <p:ph type="title"/>
          </p:nvPr>
        </p:nvSpPr>
        <p:spPr>
          <a:xfrm>
            <a:off x="671244" y="827315"/>
            <a:ext cx="10515600" cy="863600"/>
          </a:xfrm>
        </p:spPr>
        <p:txBody>
          <a:bodyPr>
            <a:normAutofit/>
          </a:bodyPr>
          <a:lstStyle/>
          <a:p>
            <a:r>
              <a:rPr lang="es-CL" sz="3600" dirty="0"/>
              <a:t>Plan de Pruebas Desarrollo</a:t>
            </a:r>
          </a:p>
        </p:txBody>
      </p:sp>
      <p:sp>
        <p:nvSpPr>
          <p:cNvPr id="5" name="CuadroTexto 4">
            <a:extLst>
              <a:ext uri="{FF2B5EF4-FFF2-40B4-BE49-F238E27FC236}">
                <a16:creationId xmlns:a16="http://schemas.microsoft.com/office/drawing/2014/main" id="{8614A384-904D-11F9-4066-6C2F4FB7D222}"/>
              </a:ext>
            </a:extLst>
          </p:cNvPr>
          <p:cNvSpPr txBox="1"/>
          <p:nvPr/>
        </p:nvSpPr>
        <p:spPr>
          <a:xfrm>
            <a:off x="671244" y="1690915"/>
            <a:ext cx="9769063" cy="369332"/>
          </a:xfrm>
          <a:prstGeom prst="rect">
            <a:avLst/>
          </a:prstGeom>
          <a:noFill/>
        </p:spPr>
        <p:txBody>
          <a:bodyPr wrap="square" rtlCol="0">
            <a:spAutoFit/>
          </a:bodyPr>
          <a:lstStyle/>
          <a:p>
            <a:r>
              <a:rPr lang="es-CL" dirty="0"/>
              <a:t>Especificación de las Pruebas aplicadas al Sistema y Resultados Obtenidos </a:t>
            </a:r>
          </a:p>
        </p:txBody>
      </p:sp>
      <p:sp>
        <p:nvSpPr>
          <p:cNvPr id="2" name="Rectangle 4">
            <a:extLst>
              <a:ext uri="{FF2B5EF4-FFF2-40B4-BE49-F238E27FC236}">
                <a16:creationId xmlns:a16="http://schemas.microsoft.com/office/drawing/2014/main" id="{F35B9930-9D5E-95BC-3198-D5412038A137}"/>
              </a:ext>
            </a:extLst>
          </p:cNvPr>
          <p:cNvSpPr>
            <a:spLocks noChangeArrowheads="1"/>
          </p:cNvSpPr>
          <p:nvPr/>
        </p:nvSpPr>
        <p:spPr bwMode="auto">
          <a:xfrm>
            <a:off x="1087120" y="2439079"/>
            <a:ext cx="8432800" cy="6155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CL" altLang="es-CL" sz="1600" b="0" i="0" u="none" strike="noStrike" cap="none" normalizeH="0" baseline="0" dirty="0">
                <a:ln>
                  <a:noFill/>
                </a:ln>
                <a:solidFill>
                  <a:srgbClr val="000000"/>
                </a:solidFill>
                <a:effectLst/>
                <a:latin typeface="Aptos" panose="020B0004020202020204" pitchFamily="34" charset="0"/>
                <a:ea typeface="Calibri" panose="020F0502020204030204" pitchFamily="34" charset="0"/>
                <a:cs typeface="Times New Roman" panose="02020603050405020304" pitchFamily="18" charset="0"/>
              </a:rPr>
              <a:t>Pruebas Funcionales</a:t>
            </a:r>
            <a:r>
              <a:rPr kumimoji="0" lang="es-CL" altLang="es-CL" sz="1600" b="0" i="0" u="none" strike="noStrike" cap="none" normalizeH="0" baseline="0" dirty="0">
                <a:ln>
                  <a:noFill/>
                </a:ln>
                <a:solidFill>
                  <a:schemeClr val="tx1"/>
                </a:solidFill>
                <a:effectLst/>
                <a:latin typeface="Aptos" panose="020B0004020202020204" pitchFamily="34" charset="0"/>
                <a:ea typeface="Aptos" panose="020B0004020202020204" pitchFamily="34" charset="0"/>
                <a:cs typeface="Times New Roman" panose="02020603050405020304" pitchFamily="18" charset="0"/>
              </a:rPr>
              <a:t> </a:t>
            </a:r>
            <a:endParaRPr kumimoji="0" lang="es-CL" altLang="es-CL" sz="1600" b="0" i="0" u="none" strike="noStrike" cap="none" normalizeH="0" baseline="0" dirty="0">
              <a:ln>
                <a:noFill/>
              </a:ln>
              <a:solidFill>
                <a:schemeClr val="tx1"/>
              </a:solidFill>
              <a:effectLst/>
            </a:endParaRPr>
          </a:p>
          <a:p>
            <a:r>
              <a:rPr lang="es-CL" dirty="0"/>
              <a:t>Verificar flujos completos de solicitud rechazada</a:t>
            </a:r>
          </a:p>
        </p:txBody>
      </p:sp>
      <p:sp>
        <p:nvSpPr>
          <p:cNvPr id="3" name="Rectangle 5">
            <a:extLst>
              <a:ext uri="{FF2B5EF4-FFF2-40B4-BE49-F238E27FC236}">
                <a16:creationId xmlns:a16="http://schemas.microsoft.com/office/drawing/2014/main" id="{2B89BE72-FD85-6CC2-5E56-E52FD828A9F8}"/>
              </a:ext>
            </a:extLst>
          </p:cNvPr>
          <p:cNvSpPr>
            <a:spLocks noChangeArrowheads="1"/>
          </p:cNvSpPr>
          <p:nvPr/>
        </p:nvSpPr>
        <p:spPr bwMode="auto">
          <a:xfrm>
            <a:off x="0" y="2111375"/>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CL"/>
          </a:p>
        </p:txBody>
      </p:sp>
      <p:pic>
        <p:nvPicPr>
          <p:cNvPr id="7" name="Imagen 6" descr="Interfaz de usuario gráfica, Aplicación&#10;&#10;El contenido generado por IA puede ser incorrecto.">
            <a:extLst>
              <a:ext uri="{FF2B5EF4-FFF2-40B4-BE49-F238E27FC236}">
                <a16:creationId xmlns:a16="http://schemas.microsoft.com/office/drawing/2014/main" id="{4EFDFCBB-A7FA-6ED0-3CEB-D7C4A16201AA}"/>
              </a:ext>
            </a:extLst>
          </p:cNvPr>
          <p:cNvPicPr>
            <a:picLocks noChangeAspect="1"/>
          </p:cNvPicPr>
          <p:nvPr/>
        </p:nvPicPr>
        <p:blipFill>
          <a:blip r:embed="rId2"/>
          <a:stretch>
            <a:fillRect/>
          </a:stretch>
        </p:blipFill>
        <p:spPr>
          <a:xfrm>
            <a:off x="935097" y="3408680"/>
            <a:ext cx="10321806" cy="2993300"/>
          </a:xfrm>
          <a:prstGeom prst="rect">
            <a:avLst/>
          </a:prstGeom>
        </p:spPr>
      </p:pic>
    </p:spTree>
    <p:extLst>
      <p:ext uri="{BB962C8B-B14F-4D97-AF65-F5344CB8AC3E}">
        <p14:creationId xmlns:p14="http://schemas.microsoft.com/office/powerpoint/2010/main" val="415749566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0754F0-1E29-0619-4749-4CDD28DDC857}"/>
            </a:ext>
          </a:extLst>
        </p:cNvPr>
        <p:cNvGrpSpPr/>
        <p:nvPr/>
      </p:nvGrpSpPr>
      <p:grpSpPr>
        <a:xfrm>
          <a:off x="0" y="0"/>
          <a:ext cx="0" cy="0"/>
          <a:chOff x="0" y="0"/>
          <a:chExt cx="0" cy="0"/>
        </a:xfrm>
      </p:grpSpPr>
      <p:sp>
        <p:nvSpPr>
          <p:cNvPr id="4" name="Título 3">
            <a:extLst>
              <a:ext uri="{FF2B5EF4-FFF2-40B4-BE49-F238E27FC236}">
                <a16:creationId xmlns:a16="http://schemas.microsoft.com/office/drawing/2014/main" id="{65E716D0-46F7-1C8A-A96E-C02B0DA96B48}"/>
              </a:ext>
            </a:extLst>
          </p:cNvPr>
          <p:cNvSpPr>
            <a:spLocks noGrp="1"/>
          </p:cNvSpPr>
          <p:nvPr>
            <p:ph type="title"/>
          </p:nvPr>
        </p:nvSpPr>
        <p:spPr>
          <a:xfrm>
            <a:off x="671244" y="827315"/>
            <a:ext cx="10515600" cy="863600"/>
          </a:xfrm>
        </p:spPr>
        <p:txBody>
          <a:bodyPr>
            <a:normAutofit/>
          </a:bodyPr>
          <a:lstStyle/>
          <a:p>
            <a:r>
              <a:rPr lang="es-CL" sz="3600" dirty="0"/>
              <a:t>Plan de Pruebas Desarrollo</a:t>
            </a:r>
          </a:p>
        </p:txBody>
      </p:sp>
      <p:sp>
        <p:nvSpPr>
          <p:cNvPr id="5" name="CuadroTexto 4">
            <a:extLst>
              <a:ext uri="{FF2B5EF4-FFF2-40B4-BE49-F238E27FC236}">
                <a16:creationId xmlns:a16="http://schemas.microsoft.com/office/drawing/2014/main" id="{677D2F86-E641-39D7-DD20-8F9289A82D1D}"/>
              </a:ext>
            </a:extLst>
          </p:cNvPr>
          <p:cNvSpPr txBox="1"/>
          <p:nvPr/>
        </p:nvSpPr>
        <p:spPr>
          <a:xfrm>
            <a:off x="671244" y="1690915"/>
            <a:ext cx="9769063" cy="369332"/>
          </a:xfrm>
          <a:prstGeom prst="rect">
            <a:avLst/>
          </a:prstGeom>
          <a:noFill/>
        </p:spPr>
        <p:txBody>
          <a:bodyPr wrap="square" rtlCol="0">
            <a:spAutoFit/>
          </a:bodyPr>
          <a:lstStyle/>
          <a:p>
            <a:r>
              <a:rPr lang="es-CL" dirty="0"/>
              <a:t>Especificación de las Pruebas aplicadas al Sistema y Resultados Obtenidos </a:t>
            </a:r>
          </a:p>
        </p:txBody>
      </p:sp>
      <p:sp>
        <p:nvSpPr>
          <p:cNvPr id="2" name="Rectangle 4">
            <a:extLst>
              <a:ext uri="{FF2B5EF4-FFF2-40B4-BE49-F238E27FC236}">
                <a16:creationId xmlns:a16="http://schemas.microsoft.com/office/drawing/2014/main" id="{E428495E-9B9A-EC6E-14B5-CF37F4E14E0B}"/>
              </a:ext>
            </a:extLst>
          </p:cNvPr>
          <p:cNvSpPr>
            <a:spLocks noChangeArrowheads="1"/>
          </p:cNvSpPr>
          <p:nvPr/>
        </p:nvSpPr>
        <p:spPr bwMode="auto">
          <a:xfrm>
            <a:off x="1087120" y="2439079"/>
            <a:ext cx="8432800" cy="6155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CL" altLang="es-CL" sz="1600" b="0" i="0" u="none" strike="noStrike" cap="none" normalizeH="0" baseline="0" dirty="0">
                <a:ln>
                  <a:noFill/>
                </a:ln>
                <a:solidFill>
                  <a:srgbClr val="000000"/>
                </a:solidFill>
                <a:effectLst/>
                <a:latin typeface="Aptos" panose="020B0004020202020204" pitchFamily="34" charset="0"/>
                <a:ea typeface="Calibri" panose="020F0502020204030204" pitchFamily="34" charset="0"/>
                <a:cs typeface="Times New Roman" panose="02020603050405020304" pitchFamily="18" charset="0"/>
              </a:rPr>
              <a:t>Pruebas Funcionales</a:t>
            </a:r>
            <a:r>
              <a:rPr kumimoji="0" lang="es-CL" altLang="es-CL" sz="1600" b="0" i="0" u="none" strike="noStrike" cap="none" normalizeH="0" baseline="0" dirty="0">
                <a:ln>
                  <a:noFill/>
                </a:ln>
                <a:solidFill>
                  <a:schemeClr val="tx1"/>
                </a:solidFill>
                <a:effectLst/>
                <a:latin typeface="Aptos" panose="020B0004020202020204" pitchFamily="34" charset="0"/>
                <a:ea typeface="Aptos" panose="020B0004020202020204" pitchFamily="34" charset="0"/>
                <a:cs typeface="Times New Roman" panose="02020603050405020304" pitchFamily="18" charset="0"/>
              </a:rPr>
              <a:t> </a:t>
            </a:r>
            <a:endParaRPr kumimoji="0" lang="es-CL" altLang="es-CL" sz="1600" b="0" i="0" u="none" strike="noStrike" cap="none" normalizeH="0" baseline="0" dirty="0">
              <a:ln>
                <a:noFill/>
              </a:ln>
              <a:solidFill>
                <a:schemeClr val="tx1"/>
              </a:solidFill>
              <a:effectLst/>
            </a:endParaRPr>
          </a:p>
          <a:p>
            <a:r>
              <a:rPr lang="es-CL" dirty="0"/>
              <a:t>Verificar flujos completos de solicitud rechazada</a:t>
            </a:r>
          </a:p>
        </p:txBody>
      </p:sp>
      <p:sp>
        <p:nvSpPr>
          <p:cNvPr id="3" name="Rectangle 5">
            <a:extLst>
              <a:ext uri="{FF2B5EF4-FFF2-40B4-BE49-F238E27FC236}">
                <a16:creationId xmlns:a16="http://schemas.microsoft.com/office/drawing/2014/main" id="{7466947F-40FE-8ECC-8AFD-A5386A7D11B8}"/>
              </a:ext>
            </a:extLst>
          </p:cNvPr>
          <p:cNvSpPr>
            <a:spLocks noChangeArrowheads="1"/>
          </p:cNvSpPr>
          <p:nvPr/>
        </p:nvSpPr>
        <p:spPr bwMode="auto">
          <a:xfrm>
            <a:off x="0" y="2111375"/>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CL"/>
          </a:p>
        </p:txBody>
      </p:sp>
      <p:pic>
        <p:nvPicPr>
          <p:cNvPr id="6" name="Imagen 5" descr="Interfaz de usuario gráfica, Aplicación&#10;&#10;El contenido generado por IA puede ser incorrecto.">
            <a:extLst>
              <a:ext uri="{FF2B5EF4-FFF2-40B4-BE49-F238E27FC236}">
                <a16:creationId xmlns:a16="http://schemas.microsoft.com/office/drawing/2014/main" id="{D02E7428-9866-5431-BFED-7CB7ACB7C2E1}"/>
              </a:ext>
            </a:extLst>
          </p:cNvPr>
          <p:cNvPicPr>
            <a:picLocks noChangeAspect="1"/>
          </p:cNvPicPr>
          <p:nvPr/>
        </p:nvPicPr>
        <p:blipFill>
          <a:blip r:embed="rId2"/>
          <a:stretch>
            <a:fillRect/>
          </a:stretch>
        </p:blipFill>
        <p:spPr>
          <a:xfrm>
            <a:off x="955724" y="3429000"/>
            <a:ext cx="9953126" cy="2886384"/>
          </a:xfrm>
          <a:prstGeom prst="rect">
            <a:avLst/>
          </a:prstGeom>
        </p:spPr>
      </p:pic>
    </p:spTree>
    <p:extLst>
      <p:ext uri="{BB962C8B-B14F-4D97-AF65-F5344CB8AC3E}">
        <p14:creationId xmlns:p14="http://schemas.microsoft.com/office/powerpoint/2010/main" val="4020948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AB6910-9AA8-8F01-0C2F-FE85106085EC}"/>
            </a:ext>
          </a:extLst>
        </p:cNvPr>
        <p:cNvGrpSpPr/>
        <p:nvPr/>
      </p:nvGrpSpPr>
      <p:grpSpPr>
        <a:xfrm>
          <a:off x="0" y="0"/>
          <a:ext cx="0" cy="0"/>
          <a:chOff x="0" y="0"/>
          <a:chExt cx="0" cy="0"/>
        </a:xfrm>
      </p:grpSpPr>
      <p:sp>
        <p:nvSpPr>
          <p:cNvPr id="4" name="Título 3">
            <a:extLst>
              <a:ext uri="{FF2B5EF4-FFF2-40B4-BE49-F238E27FC236}">
                <a16:creationId xmlns:a16="http://schemas.microsoft.com/office/drawing/2014/main" id="{EEC66BB0-759F-5370-8753-C5D6EE88914A}"/>
              </a:ext>
            </a:extLst>
          </p:cNvPr>
          <p:cNvSpPr>
            <a:spLocks noGrp="1"/>
          </p:cNvSpPr>
          <p:nvPr>
            <p:ph type="title"/>
          </p:nvPr>
        </p:nvSpPr>
        <p:spPr>
          <a:xfrm>
            <a:off x="671244" y="827315"/>
            <a:ext cx="10515600" cy="863600"/>
          </a:xfrm>
        </p:spPr>
        <p:txBody>
          <a:bodyPr>
            <a:normAutofit/>
          </a:bodyPr>
          <a:lstStyle/>
          <a:p>
            <a:r>
              <a:rPr lang="es-CL" sz="3600" dirty="0"/>
              <a:t>Plan de Pruebas Desarrollo</a:t>
            </a:r>
          </a:p>
        </p:txBody>
      </p:sp>
      <p:sp>
        <p:nvSpPr>
          <p:cNvPr id="5" name="CuadroTexto 4">
            <a:extLst>
              <a:ext uri="{FF2B5EF4-FFF2-40B4-BE49-F238E27FC236}">
                <a16:creationId xmlns:a16="http://schemas.microsoft.com/office/drawing/2014/main" id="{4540E157-6E13-9C90-568A-09FDC2462D23}"/>
              </a:ext>
            </a:extLst>
          </p:cNvPr>
          <p:cNvSpPr txBox="1"/>
          <p:nvPr/>
        </p:nvSpPr>
        <p:spPr>
          <a:xfrm>
            <a:off x="671244" y="1690915"/>
            <a:ext cx="9769063" cy="369332"/>
          </a:xfrm>
          <a:prstGeom prst="rect">
            <a:avLst/>
          </a:prstGeom>
          <a:noFill/>
        </p:spPr>
        <p:txBody>
          <a:bodyPr wrap="square" rtlCol="0">
            <a:spAutoFit/>
          </a:bodyPr>
          <a:lstStyle/>
          <a:p>
            <a:r>
              <a:rPr lang="es-CL" dirty="0"/>
              <a:t>Especificación de las Pruebas aplicadas al Sistema y Resultados Obtenidos </a:t>
            </a:r>
          </a:p>
        </p:txBody>
      </p:sp>
      <p:sp>
        <p:nvSpPr>
          <p:cNvPr id="2" name="Rectangle 4">
            <a:extLst>
              <a:ext uri="{FF2B5EF4-FFF2-40B4-BE49-F238E27FC236}">
                <a16:creationId xmlns:a16="http://schemas.microsoft.com/office/drawing/2014/main" id="{239D2D75-0A4A-3D02-9982-4262C74D09FF}"/>
              </a:ext>
            </a:extLst>
          </p:cNvPr>
          <p:cNvSpPr>
            <a:spLocks noChangeArrowheads="1"/>
          </p:cNvSpPr>
          <p:nvPr/>
        </p:nvSpPr>
        <p:spPr bwMode="auto">
          <a:xfrm>
            <a:off x="1087120" y="2439079"/>
            <a:ext cx="8432800" cy="6155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CL" altLang="es-CL" sz="1600" b="0" i="0" u="none" strike="noStrike" cap="none" normalizeH="0" baseline="0" dirty="0">
                <a:ln>
                  <a:noFill/>
                </a:ln>
                <a:solidFill>
                  <a:srgbClr val="000000"/>
                </a:solidFill>
                <a:effectLst/>
                <a:latin typeface="Aptos" panose="020B0004020202020204" pitchFamily="34" charset="0"/>
                <a:ea typeface="Calibri" panose="020F0502020204030204" pitchFamily="34" charset="0"/>
                <a:cs typeface="Times New Roman" panose="02020603050405020304" pitchFamily="18" charset="0"/>
              </a:rPr>
              <a:t>Pruebas Funcionales</a:t>
            </a:r>
            <a:r>
              <a:rPr kumimoji="0" lang="es-CL" altLang="es-CL" sz="1600" b="0" i="0" u="none" strike="noStrike" cap="none" normalizeH="0" baseline="0" dirty="0">
                <a:ln>
                  <a:noFill/>
                </a:ln>
                <a:solidFill>
                  <a:schemeClr val="tx1"/>
                </a:solidFill>
                <a:effectLst/>
                <a:latin typeface="Aptos" panose="020B0004020202020204" pitchFamily="34" charset="0"/>
                <a:ea typeface="Aptos" panose="020B0004020202020204" pitchFamily="34" charset="0"/>
                <a:cs typeface="Times New Roman" panose="02020603050405020304" pitchFamily="18" charset="0"/>
              </a:rPr>
              <a:t> </a:t>
            </a:r>
            <a:endParaRPr kumimoji="0" lang="es-CL" altLang="es-CL" sz="1600" b="0" i="0" u="none" strike="noStrike" cap="none" normalizeH="0" baseline="0" dirty="0">
              <a:ln>
                <a:noFill/>
              </a:ln>
              <a:solidFill>
                <a:schemeClr val="tx1"/>
              </a:solidFill>
              <a:effectLst/>
            </a:endParaRPr>
          </a:p>
          <a:p>
            <a:r>
              <a:rPr lang="es-CL" dirty="0"/>
              <a:t>Comprobar el comportamiento del chat interno</a:t>
            </a:r>
          </a:p>
        </p:txBody>
      </p:sp>
      <p:sp>
        <p:nvSpPr>
          <p:cNvPr id="3" name="Rectangle 5">
            <a:extLst>
              <a:ext uri="{FF2B5EF4-FFF2-40B4-BE49-F238E27FC236}">
                <a16:creationId xmlns:a16="http://schemas.microsoft.com/office/drawing/2014/main" id="{FCFEEDB3-1E8E-F7AC-5CDD-C82B22794E47}"/>
              </a:ext>
            </a:extLst>
          </p:cNvPr>
          <p:cNvSpPr>
            <a:spLocks noChangeArrowheads="1"/>
          </p:cNvSpPr>
          <p:nvPr/>
        </p:nvSpPr>
        <p:spPr bwMode="auto">
          <a:xfrm>
            <a:off x="0" y="2111375"/>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CL"/>
          </a:p>
        </p:txBody>
      </p:sp>
      <p:pic>
        <p:nvPicPr>
          <p:cNvPr id="7" name="Imagen 6" descr="Interfaz de usuario gráfica, Aplicación&#10;&#10;El contenido generado por IA puede ser incorrecto.">
            <a:extLst>
              <a:ext uri="{FF2B5EF4-FFF2-40B4-BE49-F238E27FC236}">
                <a16:creationId xmlns:a16="http://schemas.microsoft.com/office/drawing/2014/main" id="{27B22A81-13C4-ADDD-7068-19811E1DB29A}"/>
              </a:ext>
            </a:extLst>
          </p:cNvPr>
          <p:cNvPicPr>
            <a:picLocks noChangeAspect="1"/>
          </p:cNvPicPr>
          <p:nvPr/>
        </p:nvPicPr>
        <p:blipFill>
          <a:blip r:embed="rId2"/>
          <a:stretch>
            <a:fillRect/>
          </a:stretch>
        </p:blipFill>
        <p:spPr>
          <a:xfrm>
            <a:off x="1039837" y="3179761"/>
            <a:ext cx="10112326" cy="3513799"/>
          </a:xfrm>
          <a:prstGeom prst="rect">
            <a:avLst/>
          </a:prstGeom>
        </p:spPr>
      </p:pic>
    </p:spTree>
    <p:extLst>
      <p:ext uri="{BB962C8B-B14F-4D97-AF65-F5344CB8AC3E}">
        <p14:creationId xmlns:p14="http://schemas.microsoft.com/office/powerpoint/2010/main" val="278309008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F0065F-1469-2B09-1B8A-7164C27A9D94}"/>
            </a:ext>
          </a:extLst>
        </p:cNvPr>
        <p:cNvGrpSpPr/>
        <p:nvPr/>
      </p:nvGrpSpPr>
      <p:grpSpPr>
        <a:xfrm>
          <a:off x="0" y="0"/>
          <a:ext cx="0" cy="0"/>
          <a:chOff x="0" y="0"/>
          <a:chExt cx="0" cy="0"/>
        </a:xfrm>
      </p:grpSpPr>
      <p:sp>
        <p:nvSpPr>
          <p:cNvPr id="4" name="Título 3">
            <a:extLst>
              <a:ext uri="{FF2B5EF4-FFF2-40B4-BE49-F238E27FC236}">
                <a16:creationId xmlns:a16="http://schemas.microsoft.com/office/drawing/2014/main" id="{08827D15-3909-C775-4EA6-E46168DA7CA6}"/>
              </a:ext>
            </a:extLst>
          </p:cNvPr>
          <p:cNvSpPr>
            <a:spLocks noGrp="1"/>
          </p:cNvSpPr>
          <p:nvPr>
            <p:ph type="title"/>
          </p:nvPr>
        </p:nvSpPr>
        <p:spPr>
          <a:xfrm>
            <a:off x="671244" y="827315"/>
            <a:ext cx="10515600" cy="863600"/>
          </a:xfrm>
        </p:spPr>
        <p:txBody>
          <a:bodyPr>
            <a:normAutofit/>
          </a:bodyPr>
          <a:lstStyle/>
          <a:p>
            <a:r>
              <a:rPr lang="es-CL" sz="3600" dirty="0"/>
              <a:t>Plan de Pruebas Desarrollo</a:t>
            </a:r>
          </a:p>
        </p:txBody>
      </p:sp>
      <p:sp>
        <p:nvSpPr>
          <p:cNvPr id="5" name="CuadroTexto 4">
            <a:extLst>
              <a:ext uri="{FF2B5EF4-FFF2-40B4-BE49-F238E27FC236}">
                <a16:creationId xmlns:a16="http://schemas.microsoft.com/office/drawing/2014/main" id="{EE81F777-0CE6-23BF-26A9-C30F9804F5CF}"/>
              </a:ext>
            </a:extLst>
          </p:cNvPr>
          <p:cNvSpPr txBox="1"/>
          <p:nvPr/>
        </p:nvSpPr>
        <p:spPr>
          <a:xfrm>
            <a:off x="671244" y="1690915"/>
            <a:ext cx="9769063" cy="369332"/>
          </a:xfrm>
          <a:prstGeom prst="rect">
            <a:avLst/>
          </a:prstGeom>
          <a:noFill/>
        </p:spPr>
        <p:txBody>
          <a:bodyPr wrap="square" rtlCol="0">
            <a:spAutoFit/>
          </a:bodyPr>
          <a:lstStyle/>
          <a:p>
            <a:r>
              <a:rPr lang="es-CL" dirty="0"/>
              <a:t>Especificación de las Pruebas aplicadas al Sistema y Resultados Obtenidos </a:t>
            </a:r>
          </a:p>
        </p:txBody>
      </p:sp>
      <p:sp>
        <p:nvSpPr>
          <p:cNvPr id="2" name="Rectangle 4">
            <a:extLst>
              <a:ext uri="{FF2B5EF4-FFF2-40B4-BE49-F238E27FC236}">
                <a16:creationId xmlns:a16="http://schemas.microsoft.com/office/drawing/2014/main" id="{FA4F495C-B49A-D471-3523-36FCBAB39129}"/>
              </a:ext>
            </a:extLst>
          </p:cNvPr>
          <p:cNvSpPr>
            <a:spLocks noChangeArrowheads="1"/>
          </p:cNvSpPr>
          <p:nvPr/>
        </p:nvSpPr>
        <p:spPr bwMode="auto">
          <a:xfrm>
            <a:off x="1087120" y="2439079"/>
            <a:ext cx="8432800" cy="6155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CL" altLang="es-CL" sz="1600" b="0" i="0" u="none" strike="noStrike" cap="none" normalizeH="0" baseline="0" dirty="0">
                <a:ln>
                  <a:noFill/>
                </a:ln>
                <a:solidFill>
                  <a:srgbClr val="000000"/>
                </a:solidFill>
                <a:effectLst/>
                <a:latin typeface="Aptos" panose="020B0004020202020204" pitchFamily="34" charset="0"/>
                <a:ea typeface="Calibri" panose="020F0502020204030204" pitchFamily="34" charset="0"/>
                <a:cs typeface="Times New Roman" panose="02020603050405020304" pitchFamily="18" charset="0"/>
              </a:rPr>
              <a:t>Pruebas Funcionales</a:t>
            </a:r>
            <a:r>
              <a:rPr kumimoji="0" lang="es-CL" altLang="es-CL" sz="1600" b="0" i="0" u="none" strike="noStrike" cap="none" normalizeH="0" baseline="0" dirty="0">
                <a:ln>
                  <a:noFill/>
                </a:ln>
                <a:solidFill>
                  <a:schemeClr val="tx1"/>
                </a:solidFill>
                <a:effectLst/>
                <a:latin typeface="Aptos" panose="020B0004020202020204" pitchFamily="34" charset="0"/>
                <a:ea typeface="Aptos" panose="020B0004020202020204" pitchFamily="34" charset="0"/>
                <a:cs typeface="Times New Roman" panose="02020603050405020304" pitchFamily="18" charset="0"/>
              </a:rPr>
              <a:t> </a:t>
            </a:r>
            <a:endParaRPr kumimoji="0" lang="es-CL" altLang="es-CL" sz="1600" b="0" i="0" u="none" strike="noStrike" cap="none" normalizeH="0" baseline="0" dirty="0">
              <a:ln>
                <a:noFill/>
              </a:ln>
              <a:solidFill>
                <a:schemeClr val="tx1"/>
              </a:solidFill>
              <a:effectLst/>
            </a:endParaRPr>
          </a:p>
          <a:p>
            <a:r>
              <a:rPr lang="es-CL" dirty="0"/>
              <a:t>Comprobar el comportamiento del chat interno</a:t>
            </a:r>
          </a:p>
        </p:txBody>
      </p:sp>
      <p:sp>
        <p:nvSpPr>
          <p:cNvPr id="3" name="Rectangle 5">
            <a:extLst>
              <a:ext uri="{FF2B5EF4-FFF2-40B4-BE49-F238E27FC236}">
                <a16:creationId xmlns:a16="http://schemas.microsoft.com/office/drawing/2014/main" id="{50FF04BB-C8EF-5617-E3A5-76128529C153}"/>
              </a:ext>
            </a:extLst>
          </p:cNvPr>
          <p:cNvSpPr>
            <a:spLocks noChangeArrowheads="1"/>
          </p:cNvSpPr>
          <p:nvPr/>
        </p:nvSpPr>
        <p:spPr bwMode="auto">
          <a:xfrm>
            <a:off x="0" y="2111375"/>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CL"/>
          </a:p>
        </p:txBody>
      </p:sp>
      <p:pic>
        <p:nvPicPr>
          <p:cNvPr id="6" name="Imagen 5" descr="Interfaz de usuario gráfica, Texto, Aplicación, Chat o mensaje de texto&#10;&#10;El contenido generado por IA puede ser incorrecto.">
            <a:extLst>
              <a:ext uri="{FF2B5EF4-FFF2-40B4-BE49-F238E27FC236}">
                <a16:creationId xmlns:a16="http://schemas.microsoft.com/office/drawing/2014/main" id="{20A6546A-2892-E492-604B-5BA562B4D166}"/>
              </a:ext>
            </a:extLst>
          </p:cNvPr>
          <p:cNvPicPr>
            <a:picLocks noChangeAspect="1"/>
          </p:cNvPicPr>
          <p:nvPr/>
        </p:nvPicPr>
        <p:blipFill>
          <a:blip r:embed="rId2"/>
          <a:stretch>
            <a:fillRect/>
          </a:stretch>
        </p:blipFill>
        <p:spPr>
          <a:xfrm>
            <a:off x="1060767" y="3287077"/>
            <a:ext cx="10070465" cy="3316941"/>
          </a:xfrm>
          <a:prstGeom prst="rect">
            <a:avLst/>
          </a:prstGeom>
        </p:spPr>
      </p:pic>
    </p:spTree>
    <p:extLst>
      <p:ext uri="{BB962C8B-B14F-4D97-AF65-F5344CB8AC3E}">
        <p14:creationId xmlns:p14="http://schemas.microsoft.com/office/powerpoint/2010/main" val="408359953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B52A6A9-7085-8ACE-7F82-FF2B98DA2878}"/>
              </a:ext>
            </a:extLst>
          </p:cNvPr>
          <p:cNvSpPr>
            <a:spLocks noGrp="1"/>
          </p:cNvSpPr>
          <p:nvPr>
            <p:ph type="title"/>
          </p:nvPr>
        </p:nvSpPr>
        <p:spPr/>
        <p:txBody>
          <a:bodyPr/>
          <a:lstStyle/>
          <a:p>
            <a:r>
              <a:rPr lang="es-ES" dirty="0"/>
              <a:t>VISTA DE PROCESO</a:t>
            </a:r>
            <a:endParaRPr lang="es-CL" dirty="0"/>
          </a:p>
        </p:txBody>
      </p:sp>
      <p:pic>
        <p:nvPicPr>
          <p:cNvPr id="3" name="Imagen 2">
            <a:extLst>
              <a:ext uri="{FF2B5EF4-FFF2-40B4-BE49-F238E27FC236}">
                <a16:creationId xmlns:a16="http://schemas.microsoft.com/office/drawing/2014/main" id="{41692DDE-C93F-74A2-96A7-0C014B6E1CF2}"/>
              </a:ext>
            </a:extLst>
          </p:cNvPr>
          <p:cNvPicPr>
            <a:picLocks noChangeAspect="1"/>
          </p:cNvPicPr>
          <p:nvPr/>
        </p:nvPicPr>
        <p:blipFill>
          <a:blip r:embed="rId2"/>
          <a:srcRect l="23305" t="-1" r="23568" b="1498"/>
          <a:stretch>
            <a:fillRect/>
          </a:stretch>
        </p:blipFill>
        <p:spPr>
          <a:xfrm>
            <a:off x="1623060" y="1570383"/>
            <a:ext cx="2415540" cy="4672208"/>
          </a:xfrm>
          <a:prstGeom prst="rect">
            <a:avLst/>
          </a:prstGeom>
        </p:spPr>
      </p:pic>
      <p:pic>
        <p:nvPicPr>
          <p:cNvPr id="4" name="Imagen 3" descr="Tabla&#10;&#10;El contenido generado por IA puede ser incorrecto.">
            <a:extLst>
              <a:ext uri="{FF2B5EF4-FFF2-40B4-BE49-F238E27FC236}">
                <a16:creationId xmlns:a16="http://schemas.microsoft.com/office/drawing/2014/main" id="{1F1A7D3E-836D-FD2E-3BF9-C52D1455000A}"/>
              </a:ext>
            </a:extLst>
          </p:cNvPr>
          <p:cNvPicPr>
            <a:picLocks noChangeAspect="1"/>
          </p:cNvPicPr>
          <p:nvPr/>
        </p:nvPicPr>
        <p:blipFill>
          <a:blip r:embed="rId3"/>
          <a:stretch>
            <a:fillRect/>
          </a:stretch>
        </p:blipFill>
        <p:spPr>
          <a:xfrm>
            <a:off x="6268891" y="1489981"/>
            <a:ext cx="4019793" cy="4752609"/>
          </a:xfrm>
          <a:prstGeom prst="rect">
            <a:avLst/>
          </a:prstGeom>
        </p:spPr>
      </p:pic>
    </p:spTree>
    <p:extLst>
      <p:ext uri="{BB962C8B-B14F-4D97-AF65-F5344CB8AC3E}">
        <p14:creationId xmlns:p14="http://schemas.microsoft.com/office/powerpoint/2010/main" val="405835630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1D21A17-9067-DDE3-CCD0-22EFF421A1F6}"/>
              </a:ext>
            </a:extLst>
          </p:cNvPr>
          <p:cNvSpPr>
            <a:spLocks noGrp="1"/>
          </p:cNvSpPr>
          <p:nvPr>
            <p:ph type="title"/>
          </p:nvPr>
        </p:nvSpPr>
        <p:spPr/>
        <p:txBody>
          <a:bodyPr/>
          <a:lstStyle/>
          <a:p>
            <a:r>
              <a:rPr lang="es-CL" dirty="0"/>
              <a:t>Evaluación Económica</a:t>
            </a:r>
          </a:p>
        </p:txBody>
      </p:sp>
      <p:pic>
        <p:nvPicPr>
          <p:cNvPr id="3" name="Imagen 2">
            <a:extLst>
              <a:ext uri="{FF2B5EF4-FFF2-40B4-BE49-F238E27FC236}">
                <a16:creationId xmlns:a16="http://schemas.microsoft.com/office/drawing/2014/main" id="{65D5EA8C-5786-A553-B258-C468038A210D}"/>
              </a:ext>
            </a:extLst>
          </p:cNvPr>
          <p:cNvPicPr>
            <a:picLocks noChangeAspect="1"/>
          </p:cNvPicPr>
          <p:nvPr/>
        </p:nvPicPr>
        <p:blipFill>
          <a:blip r:embed="rId2"/>
          <a:srcRect l="549" t="1549" r="2429" b="1939"/>
          <a:stretch>
            <a:fillRect/>
          </a:stretch>
        </p:blipFill>
        <p:spPr>
          <a:xfrm>
            <a:off x="709127" y="1763486"/>
            <a:ext cx="7081934" cy="4534677"/>
          </a:xfrm>
          <a:prstGeom prst="rect">
            <a:avLst/>
          </a:prstGeom>
        </p:spPr>
      </p:pic>
      <p:pic>
        <p:nvPicPr>
          <p:cNvPr id="4" name="Imagen 3">
            <a:extLst>
              <a:ext uri="{FF2B5EF4-FFF2-40B4-BE49-F238E27FC236}">
                <a16:creationId xmlns:a16="http://schemas.microsoft.com/office/drawing/2014/main" id="{9A6CC852-5AEC-3C03-925D-7AD58898AECD}"/>
              </a:ext>
            </a:extLst>
          </p:cNvPr>
          <p:cNvPicPr>
            <a:picLocks noChangeAspect="1"/>
          </p:cNvPicPr>
          <p:nvPr/>
        </p:nvPicPr>
        <p:blipFill>
          <a:blip r:embed="rId3"/>
          <a:srcRect t="2698" r="5726" b="4580"/>
          <a:stretch>
            <a:fillRect/>
          </a:stretch>
        </p:blipFill>
        <p:spPr>
          <a:xfrm>
            <a:off x="8067448" y="2379306"/>
            <a:ext cx="3493181" cy="2351314"/>
          </a:xfrm>
          <a:prstGeom prst="rect">
            <a:avLst/>
          </a:prstGeom>
        </p:spPr>
      </p:pic>
    </p:spTree>
    <p:extLst>
      <p:ext uri="{BB962C8B-B14F-4D97-AF65-F5344CB8AC3E}">
        <p14:creationId xmlns:p14="http://schemas.microsoft.com/office/powerpoint/2010/main" val="83010351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1DB71D83-3EFA-B5D5-3DBC-2952C60A6D85}"/>
              </a:ext>
            </a:extLst>
          </p:cNvPr>
          <p:cNvPicPr>
            <a:picLocks noChangeAspect="1"/>
          </p:cNvPicPr>
          <p:nvPr/>
        </p:nvPicPr>
        <p:blipFill>
          <a:blip r:embed="rId2"/>
          <a:srcRect l="2926" t="3963" r="3979" b="7251"/>
          <a:stretch>
            <a:fillRect/>
          </a:stretch>
        </p:blipFill>
        <p:spPr>
          <a:xfrm>
            <a:off x="490331" y="1390260"/>
            <a:ext cx="6330348" cy="2491275"/>
          </a:xfrm>
          <a:prstGeom prst="rect">
            <a:avLst/>
          </a:prstGeom>
        </p:spPr>
      </p:pic>
      <p:sp>
        <p:nvSpPr>
          <p:cNvPr id="7" name="CuadroTexto 6">
            <a:extLst>
              <a:ext uri="{FF2B5EF4-FFF2-40B4-BE49-F238E27FC236}">
                <a16:creationId xmlns:a16="http://schemas.microsoft.com/office/drawing/2014/main" id="{471EF142-934C-006A-F3FC-D36CF8C92776}"/>
              </a:ext>
            </a:extLst>
          </p:cNvPr>
          <p:cNvSpPr txBox="1"/>
          <p:nvPr/>
        </p:nvSpPr>
        <p:spPr>
          <a:xfrm>
            <a:off x="7013713" y="1600200"/>
            <a:ext cx="5178287" cy="1477328"/>
          </a:xfrm>
          <a:prstGeom prst="rect">
            <a:avLst/>
          </a:prstGeom>
          <a:noFill/>
        </p:spPr>
        <p:txBody>
          <a:bodyPr wrap="square" rtlCol="0">
            <a:spAutoFit/>
          </a:bodyPr>
          <a:lstStyle/>
          <a:p>
            <a:r>
              <a:rPr lang="es-ES" dirty="0"/>
              <a:t>VAN: dice cuánto dinero neto ganas en pesos de hoy.</a:t>
            </a:r>
          </a:p>
          <a:p>
            <a:r>
              <a:rPr lang="es-ES" dirty="0"/>
              <a:t>TIR: dice a qué porcentaje anual rinde el proyecto.</a:t>
            </a:r>
          </a:p>
          <a:p>
            <a:r>
              <a:rPr lang="es-ES" dirty="0"/>
              <a:t>IR:  dice cuántas veces recuperas lo que invertiste (relación beneficio / inversión).</a:t>
            </a:r>
          </a:p>
          <a:p>
            <a:endParaRPr lang="es-CL" dirty="0"/>
          </a:p>
        </p:txBody>
      </p:sp>
      <p:sp>
        <p:nvSpPr>
          <p:cNvPr id="9" name="CuadroTexto 8">
            <a:extLst>
              <a:ext uri="{FF2B5EF4-FFF2-40B4-BE49-F238E27FC236}">
                <a16:creationId xmlns:a16="http://schemas.microsoft.com/office/drawing/2014/main" id="{47D21690-B4C9-8D00-3BF5-3E5F3F373B1D}"/>
              </a:ext>
            </a:extLst>
          </p:cNvPr>
          <p:cNvSpPr txBox="1"/>
          <p:nvPr/>
        </p:nvSpPr>
        <p:spPr>
          <a:xfrm>
            <a:off x="490330" y="4492489"/>
            <a:ext cx="11211339" cy="2031325"/>
          </a:xfrm>
          <a:prstGeom prst="rect">
            <a:avLst/>
          </a:prstGeom>
          <a:noFill/>
        </p:spPr>
        <p:txBody>
          <a:bodyPr wrap="square" rtlCol="0">
            <a:spAutoFit/>
          </a:bodyPr>
          <a:lstStyle/>
          <a:p>
            <a:r>
              <a:rPr lang="es-ES" dirty="0"/>
              <a:t>VAN (10%): ocupamos 10% como tasa mínima de retorno que exigimos al proyecto. El VAN dice cuánta plata extra genera el proyecto sobre ese 10%. Como es muy positivo, el proyecto crea valor.</a:t>
            </a:r>
          </a:p>
          <a:p>
            <a:r>
              <a:rPr lang="es-ES" dirty="0"/>
              <a:t>TIR: muestra la rentabilidad en porcentaje del proyecto. Al ser ≈ 170%, muy superior al 10%, confirma que el proyecto es altamente atractivo.</a:t>
            </a:r>
          </a:p>
          <a:p>
            <a:r>
              <a:rPr lang="es-ES" dirty="0"/>
              <a:t>IR (14,46): indica la eficiencia por peso invertido. IR = 14,46 significa que cada $1 invertido devuelve $14,46 en valor actual, reforzando que el proyecto es muy rentable.</a:t>
            </a:r>
          </a:p>
          <a:p>
            <a:endParaRPr lang="es-CL" dirty="0"/>
          </a:p>
        </p:txBody>
      </p:sp>
    </p:spTree>
    <p:extLst>
      <p:ext uri="{BB962C8B-B14F-4D97-AF65-F5344CB8AC3E}">
        <p14:creationId xmlns:p14="http://schemas.microsoft.com/office/powerpoint/2010/main" val="248607134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3"/>
          <p:cNvSpPr txBox="1">
            <a:spLocks/>
          </p:cNvSpPr>
          <p:nvPr/>
        </p:nvSpPr>
        <p:spPr>
          <a:xfrm>
            <a:off x="457158" y="864220"/>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CL" dirty="0"/>
              <a:t>Demostración del Prototipo o Resultado del Proyecto (Sistema)</a:t>
            </a:r>
          </a:p>
        </p:txBody>
      </p:sp>
      <p:sp>
        <p:nvSpPr>
          <p:cNvPr id="3" name="Título 3">
            <a:extLst>
              <a:ext uri="{FF2B5EF4-FFF2-40B4-BE49-F238E27FC236}">
                <a16:creationId xmlns:a16="http://schemas.microsoft.com/office/drawing/2014/main" id="{BB6623E9-A253-2C94-43A5-3C3EDA474658}"/>
              </a:ext>
            </a:extLst>
          </p:cNvPr>
          <p:cNvSpPr txBox="1">
            <a:spLocks/>
          </p:cNvSpPr>
          <p:nvPr/>
        </p:nvSpPr>
        <p:spPr>
          <a:xfrm>
            <a:off x="838200" y="2936860"/>
            <a:ext cx="487172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CL" dirty="0"/>
              <a:t>Video demostración</a:t>
            </a:r>
          </a:p>
        </p:txBody>
      </p:sp>
    </p:spTree>
    <p:extLst>
      <p:ext uri="{BB962C8B-B14F-4D97-AF65-F5344CB8AC3E}">
        <p14:creationId xmlns:p14="http://schemas.microsoft.com/office/powerpoint/2010/main" val="407193317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p:cNvSpPr>
            <a:spLocks noGrp="1"/>
          </p:cNvSpPr>
          <p:nvPr>
            <p:ph type="title"/>
          </p:nvPr>
        </p:nvSpPr>
        <p:spPr>
          <a:xfrm>
            <a:off x="838200" y="974938"/>
            <a:ext cx="10515600" cy="672434"/>
          </a:xfrm>
        </p:spPr>
        <p:txBody>
          <a:bodyPr>
            <a:normAutofit fontScale="90000"/>
          </a:bodyPr>
          <a:lstStyle/>
          <a:p>
            <a:r>
              <a:rPr lang="es-CL" dirty="0"/>
              <a:t>Reflexión Final</a:t>
            </a:r>
          </a:p>
        </p:txBody>
      </p:sp>
      <p:sp>
        <p:nvSpPr>
          <p:cNvPr id="2" name="Rectángulo 1"/>
          <p:cNvSpPr/>
          <p:nvPr/>
        </p:nvSpPr>
        <p:spPr>
          <a:xfrm>
            <a:off x="903515" y="1647372"/>
            <a:ext cx="9670961" cy="3338735"/>
          </a:xfrm>
          <a:prstGeom prst="rect">
            <a:avLst/>
          </a:prstGeom>
        </p:spPr>
        <p:txBody>
          <a:bodyPr wrap="square">
            <a:spAutoFit/>
          </a:bodyPr>
          <a:lstStyle/>
          <a:p>
            <a:pPr>
              <a:lnSpc>
                <a:spcPct val="200000"/>
              </a:lnSpc>
            </a:pPr>
            <a:r>
              <a:rPr lang="es-CL" b="1" dirty="0"/>
              <a:t>Lecciones Aprendidas y Obstáculos presentados con la Experiencia.</a:t>
            </a:r>
          </a:p>
          <a:p>
            <a:pPr marL="342900" indent="-342900">
              <a:lnSpc>
                <a:spcPct val="200000"/>
              </a:lnSpc>
              <a:buFont typeface="+mj-lt"/>
              <a:buAutoNum type="alphaLcParenR"/>
            </a:pPr>
            <a:r>
              <a:rPr lang="es-CL" dirty="0"/>
              <a:t>¿Cuáles fueron los principales obstáculos que se vivieron como equipo?</a:t>
            </a:r>
          </a:p>
          <a:p>
            <a:pPr marL="342900" indent="-342900">
              <a:lnSpc>
                <a:spcPct val="200000"/>
              </a:lnSpc>
              <a:buFont typeface="+mj-lt"/>
              <a:buAutoNum type="alphaLcParenR"/>
            </a:pPr>
            <a:r>
              <a:rPr lang="es-CL" dirty="0"/>
              <a:t>¿Cómo los evitaría para un próximo proyecto?</a:t>
            </a:r>
          </a:p>
          <a:p>
            <a:pPr marL="342900" indent="-342900">
              <a:lnSpc>
                <a:spcPct val="200000"/>
              </a:lnSpc>
              <a:buFont typeface="+mj-lt"/>
              <a:buAutoNum type="alphaLcParenR"/>
            </a:pPr>
            <a:r>
              <a:rPr lang="es-CL" dirty="0"/>
              <a:t>¿Cuáles fueron los casos más complejos en desarrollar?</a:t>
            </a:r>
          </a:p>
          <a:p>
            <a:pPr marL="342900" indent="-342900">
              <a:lnSpc>
                <a:spcPct val="200000"/>
              </a:lnSpc>
              <a:buFont typeface="+mj-lt"/>
              <a:buAutoNum type="alphaLcParenR"/>
            </a:pPr>
            <a:r>
              <a:rPr lang="es-CL" dirty="0"/>
              <a:t>¿Perciben un crecimiento en su capacidad para desarrollar proyectos informáticos reales?</a:t>
            </a:r>
          </a:p>
          <a:p>
            <a:pPr marL="342900" indent="-342900">
              <a:lnSpc>
                <a:spcPct val="200000"/>
              </a:lnSpc>
              <a:buFont typeface="+mj-lt"/>
              <a:buAutoNum type="alphaLcParenR"/>
            </a:pPr>
            <a:r>
              <a:rPr lang="es-CL" dirty="0"/>
              <a:t>¿Cuáles fueron los principales </a:t>
            </a:r>
            <a:r>
              <a:rPr lang="es-CL" dirty="0" err="1"/>
              <a:t>auto-aprendizajes</a:t>
            </a:r>
            <a:r>
              <a:rPr lang="es-CL" dirty="0"/>
              <a:t> que han logrado en el proceso?</a:t>
            </a:r>
          </a:p>
        </p:txBody>
      </p:sp>
    </p:spTree>
    <p:extLst>
      <p:ext uri="{BB962C8B-B14F-4D97-AF65-F5344CB8AC3E}">
        <p14:creationId xmlns:p14="http://schemas.microsoft.com/office/powerpoint/2010/main" val="46646052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p:cNvSpPr>
            <a:spLocks noGrp="1"/>
          </p:cNvSpPr>
          <p:nvPr>
            <p:ph type="title"/>
          </p:nvPr>
        </p:nvSpPr>
        <p:spPr>
          <a:xfrm>
            <a:off x="838200" y="974938"/>
            <a:ext cx="10515600" cy="672434"/>
          </a:xfrm>
        </p:spPr>
        <p:txBody>
          <a:bodyPr>
            <a:normAutofit fontScale="90000"/>
          </a:bodyPr>
          <a:lstStyle/>
          <a:p>
            <a:r>
              <a:rPr lang="es-CL" dirty="0"/>
              <a:t>Responder las Preguntas del Proyecto</a:t>
            </a:r>
          </a:p>
        </p:txBody>
      </p:sp>
    </p:spTree>
    <p:extLst>
      <p:ext uri="{BB962C8B-B14F-4D97-AF65-F5344CB8AC3E}">
        <p14:creationId xmlns:p14="http://schemas.microsoft.com/office/powerpoint/2010/main" val="4113255563"/>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1258</TotalTime>
  <Words>1022</Words>
  <Application>Microsoft Office PowerPoint</Application>
  <PresentationFormat>Panorámica</PresentationFormat>
  <Paragraphs>172</Paragraphs>
  <Slides>28</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28</vt:i4>
      </vt:variant>
    </vt:vector>
  </HeadingPairs>
  <TitlesOfParts>
    <vt:vector size="33" baseType="lpstr">
      <vt:lpstr>Aptos</vt:lpstr>
      <vt:lpstr>Arial</vt:lpstr>
      <vt:lpstr>Calibri</vt:lpstr>
      <vt:lpstr>Calibri Light</vt:lpstr>
      <vt:lpstr>Tema de Office</vt:lpstr>
      <vt:lpstr>Presentación Final Capstone “SmartFlow – Sistema de Gestión y Reservas”</vt:lpstr>
      <vt:lpstr>Presentación de PowerPoint</vt:lpstr>
      <vt:lpstr>Descripción del Proyecto</vt:lpstr>
      <vt:lpstr>Presentación de PowerPoint</vt:lpstr>
      <vt:lpstr>AS IS </vt:lpstr>
      <vt:lpstr>TO BE</vt:lpstr>
      <vt:lpstr>Alcances y Limitaciones del Proyecto</vt:lpstr>
      <vt:lpstr>Lista de Requerimientos Funcionales</vt:lpstr>
      <vt:lpstr>Lista de Requerimientos No Funcionales</vt:lpstr>
      <vt:lpstr>Arquitectura del Sistema</vt:lpstr>
      <vt:lpstr>Diseño del Sistema</vt:lpstr>
      <vt:lpstr>Diseño del Sistema</vt:lpstr>
      <vt:lpstr>Tecnologías del Desarrollo</vt:lpstr>
      <vt:lpstr>Planificación</vt:lpstr>
      <vt:lpstr>Plan de Pruebas Desarrollo</vt:lpstr>
      <vt:lpstr>Plan de Pruebas Desarrollo</vt:lpstr>
      <vt:lpstr>Plan de Pruebas Desarrollo</vt:lpstr>
      <vt:lpstr>Plan de Pruebas Desarrollo</vt:lpstr>
      <vt:lpstr>Plan de Pruebas Desarrollo</vt:lpstr>
      <vt:lpstr>Plan de Pruebas Desarrollo</vt:lpstr>
      <vt:lpstr>Plan de Pruebas Desarrollo</vt:lpstr>
      <vt:lpstr>Plan de Pruebas Desarrollo</vt:lpstr>
      <vt:lpstr>VISTA DE PROCESO</vt:lpstr>
      <vt:lpstr>Evaluación Económica</vt:lpstr>
      <vt:lpstr>Presentación de PowerPoint</vt:lpstr>
      <vt:lpstr>Presentación de PowerPoint</vt:lpstr>
      <vt:lpstr>Reflexión Final</vt:lpstr>
      <vt:lpstr>Responder las Preguntas del Proyecto</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Portafolio de Título “Título del Caso”</dc:title>
  <dc:creator>Sala_</dc:creator>
  <cp:lastModifiedBy>JUAN JOSUE CASTILLO LOYOLA</cp:lastModifiedBy>
  <cp:revision>98</cp:revision>
  <dcterms:created xsi:type="dcterms:W3CDTF">2015-07-01T15:45:01Z</dcterms:created>
  <dcterms:modified xsi:type="dcterms:W3CDTF">2025-12-09T19:03:27Z</dcterms:modified>
</cp:coreProperties>
</file>